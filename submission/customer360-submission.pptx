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4a57865f544bfd" /><Relationship Type="http://schemas.openxmlformats.org/officeDocument/2006/relationships/extended-properties" Target="/docProps/app.xml" Id="R4366f2c876024de6" /><Relationship Type="http://schemas.openxmlformats.org/officeDocument/2006/relationships/officeDocument" Target="/ppt/presentation.xml" Id="R14c67827a94f45e7" /></Relationships>
</file>

<file path=ppt/presentation.xml><?xml version="1.0" encoding="utf-8"?>
<p:presentation xmlns:p="http://schemas.openxmlformats.org/presentationml/2006/main">
  <p:sldMasterIdLst>
    <p:sldMasterId xmlns:r="http://schemas.openxmlformats.org/officeDocument/2006/relationships" id="2147483648" r:id="Ra2c1f9bd6e9440e1"/>
  </p:sldMasterIdLst>
  <p:notesMasterIdLst>
    <p:notesMasterId xmlns:r="http://schemas.openxmlformats.org/officeDocument/2006/relationships" r:id="R2a8f59a6b58f451f"/>
  </p:notesMasterIdLst>
  <p:sldIdLst>
    <p:sldId xmlns:r="http://schemas.openxmlformats.org/officeDocument/2006/relationships" id="256" r:id="Rff8ea5c0452d4c90"/>
    <p:sldId xmlns:r="http://schemas.openxmlformats.org/officeDocument/2006/relationships" id="257" r:id="R2fd4bc58a5664b8d"/>
    <p:sldId xmlns:r="http://schemas.openxmlformats.org/officeDocument/2006/relationships" id="258" r:id="R3e9948659b654207"/>
    <p:sldId xmlns:r="http://schemas.openxmlformats.org/officeDocument/2006/relationships" id="259" r:id="R9a75277d94e94dff"/>
    <p:sldId xmlns:r="http://schemas.openxmlformats.org/officeDocument/2006/relationships" id="260" r:id="R393cd38e254e4a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be139afdfb4ec4" /><Relationship Type="http://schemas.openxmlformats.org/officeDocument/2006/relationships/slideMaster" Target="/ppt/slideMasters/slideMaster1.xml" Id="Ra2c1f9bd6e9440e1" /><Relationship Type="http://schemas.openxmlformats.org/officeDocument/2006/relationships/notesMaster" Target="/ppt/notesMasters/notesMaster1.xml" Id="R2a8f59a6b58f451f" /><Relationship Type="http://schemas.openxmlformats.org/officeDocument/2006/relationships/presProps" Target="/ppt/presProps.xml" Id="Rfca0496dfe5f4443" /><Relationship Type="http://schemas.openxmlformats.org/officeDocument/2006/relationships/tableStyles" Target="/ppt/tableStyles.xml" Id="R8ad1749ff45b4a2a" /><Relationship Type="http://schemas.openxmlformats.org/officeDocument/2006/relationships/slide" Target="/ppt/slides/slide1.xml" Id="Rff8ea5c0452d4c90" /><Relationship Type="http://schemas.openxmlformats.org/officeDocument/2006/relationships/slide" Target="/ppt/slides/slide2.xml" Id="R2fd4bc58a5664b8d" /><Relationship Type="http://schemas.openxmlformats.org/officeDocument/2006/relationships/slide" Target="/ppt/slides/slide3.xml" Id="R3e9948659b654207" /><Relationship Type="http://schemas.openxmlformats.org/officeDocument/2006/relationships/slide" Target="/ppt/slides/slide4.xml" Id="R9a75277d94e94dff" /><Relationship Type="http://schemas.openxmlformats.org/officeDocument/2006/relationships/slide" Target="/ppt/slides/slide5.xml" Id="R393cd38e254e4a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9852b95ad04e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d230bb882643f1" /><Relationship Type="http://schemas.openxmlformats.org/officeDocument/2006/relationships/notesMaster" Target="/ppt/notesMasters/notesMaster1.xml" Id="Rdc465d9d361742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badc09442645ec" /><Relationship Type="http://schemas.openxmlformats.org/officeDocument/2006/relationships/notesMaster" Target="/ppt/notesMasters/notesMaster1.xml" Id="R4a603218759b4b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d30c27e5d74ef9" /><Relationship Type="http://schemas.openxmlformats.org/officeDocument/2006/relationships/notesMaster" Target="/ppt/notesMasters/notesMaster1.xml" Id="Rfa769badf14c4e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41b459fa9a4da2" /><Relationship Type="http://schemas.openxmlformats.org/officeDocument/2006/relationships/notesMaster" Target="/ppt/notesMasters/notesMaster1.xml" Id="R07147e1f99874c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3a48dbf83248b9" /><Relationship Type="http://schemas.openxmlformats.org/officeDocument/2006/relationships/notesMaster" Target="/ppt/notesMasters/notesMaster1.xml" Id="R58088bb0db6845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verified in CUSTOMER360_HACKATHON.APP on 6 October 2026: 10 customers, 12 accounts, 11 interactions, and 10 rows in CUSTOMER_360. The running Streamlit app reads the same synthetic fixture from local CSV files; it does not query Snowflake. No Cortex model inference or business impact is claimed. Sources: data/customers.csv, data/accounts.csv, data/interactions.csv; verified through Snowsight.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for GCC customer operations in insurance and lending. The prototype addresses service triage using synthetic profiles, account holdings, and interaction transcripts. It does not include production CRM, claims, or transaction integrations. No time savings or retention improvement has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data layer and local application are two separate paths. Snowflake seed and Customer 360 SQL were run in Snowsight. CoCo CLI demonstrated the bundled sql-author skill with a read-only query against CUSTOMER_360 and the data-quality skill for row counts, duplicate identifiers, null keys, and referential integrity. The spot check returned 10 customers, 12 accounts, 11 interactions; no duplicate identifiers, null customer keys, or orphan references. The app currently reads CSV and writes local SQLite events. Cortex inference, governance policies, and app integration are not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synthetic C1001 case score is 65, derived by src/scoring.py. The unresolved claim rule routes to Fast-track claim review owned by a Claims operations lead; service priority is P1. The latest unrelated interaction does not suppress the older open claim. The brief is a deterministic template, not LLM output. The app records agent-entered decisions locally and sends no customer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counts are synthetic prototype facts, not business outcomes. Ten automated tests cover recommendation rules and workflow transitions; this is not model accuracy. Business impact should be assessed with a controlled, independently reviewed pilot. Intended outcomes include faster case triage, consistent service recovery, and measurable case resolution. Scalability is not yet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7864ac8bae42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b57af81c9b4f5e" /><Relationship Type="http://schemas.openxmlformats.org/officeDocument/2006/relationships/slideLayout" Target="/ppt/slideLayouts/slideLayout1.xml" Id="Rdc70c8cf6e5b48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70c8cf6e5b48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a839adb33c43ed" /><Relationship Type="http://schemas.openxmlformats.org/officeDocument/2006/relationships/notesSlide" Target="/ppt/notesSlides/notesSlide1.xml" Id="R25474415ddab42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d073a9dad54024" /><Relationship Type="http://schemas.openxmlformats.org/officeDocument/2006/relationships/notesSlide" Target="/ppt/notesSlides/notesSlide2.xml" Id="R5fb4058399f743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1bead17c054edb" /><Relationship Type="http://schemas.openxmlformats.org/officeDocument/2006/relationships/notesSlide" Target="/ppt/notesSlides/notesSlide3.xml" Id="R079b1258567d42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adcd4c3e3a48ea" /><Relationship Type="http://schemas.openxmlformats.org/officeDocument/2006/relationships/notesSlide" Target="/ppt/notesSlides/notesSlide4.xml" Id="Ra6ca3583041847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3769c1596b4aee" /><Relationship Type="http://schemas.openxmlformats.org/officeDocument/2006/relationships/notesSlide" Target="/ppt/notesSlides/notesSlide5.xml" Id="R4aca66687d794ac5" /></Relationships>
</file>

<file path=ppt/slides/slide1.xml><?xml version="1.0" encoding="utf-8"?>
<p:sld xmlns:p="http://schemas.openxmlformats.org/presentationml/2006/main">
  <p:cSld>
    <p:bg>
      <p:bgPr>
        <a:solidFill xmlns:a="http://schemas.openxmlformats.org/drawingml/2006/main">
          <a:srgbClr val="17241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F220206-3180-4325-9D75-C45EB24E88E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37A6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6E484F-B9BB-45FC-B88A-5BDA434E2BAF}"/>
              </a:ext>
            </a:extLst>
          </p:cNvPr>
          <p:cNvSpPr>
            <a:spLocks xmlns:a="http://schemas.openxmlformats.org/drawingml/2006/main" noGrp="1"/>
          </p:cNvSpPr>
          <p:nvPr/>
        </p:nvSpPr>
        <p:spPr>
          <a:xfrm xmlns:a="http://schemas.openxmlformats.org/drawingml/2006/main">
            <a:off x="685800" y="5143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defRPr sz="1050" b="1">
                <a:solidFill>
                  <a:srgbClr val="A9D8C9"/>
                </a:solidFill>
                <a:latin typeface="Avenir Next"/>
                <a:ea typeface="Avenir Next"/>
                <a:cs typeface="Avenir Next"/>
              </a:defRPr>
            </a:pPr>
            <a:r>
              <a:rPr sz="1050" b="1">
                <a:solidFill>
                  <a:srgbClr val="A9D8C9"/>
                </a:solidFill>
                <a:latin typeface="Avenir Next"/>
                <a:ea typeface="Avenir Next"/>
                <a:cs typeface="Avenir Next"/>
              </a:rPr>
              <a:t>COCO CLI HACKATHON · GCC EDITION</a:t>
            </a:r>
          </a:p>
        </p:txBody>
      </p:sp>
      <p:sp>
        <p:nvSpPr>
          <p:cNvPr id="3" name="">
            <a:extLst xmlns:a="http://schemas.openxmlformats.org/drawingml/2006/main">
              <a:ext uri="{FF2B5EF4-FFF2-40B4-BE49-F238E27FC236}">
                <a16:creationId xmlns:a16="http://schemas.microsoft.com/office/drawing/2014/main" id="{CE943CE3-C153-4880-A9A6-35D3A44C277E}"/>
              </a:ext>
            </a:extLst>
          </p:cNvPr>
          <p:cNvSpPr>
            <a:spLocks xmlns:a="http://schemas.openxmlformats.org/drawingml/2006/main" noGrp="1"/>
          </p:cNvSpPr>
          <p:nvPr/>
        </p:nvSpPr>
        <p:spPr>
          <a:xfrm xmlns:a="http://schemas.openxmlformats.org/drawingml/2006/main">
            <a:off x="685800" y="1104900"/>
            <a:ext cx="6477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Customer 360</a:t>
            </a:r>
          </a:p>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Next Best Action</a:t>
            </a:r>
          </a:p>
        </p:txBody>
      </p:sp>
      <p:sp>
        <p:nvSpPr>
          <p:cNvPr id="4" name="">
            <a:extLst xmlns:a="http://schemas.openxmlformats.org/drawingml/2006/main">
              <a:ext uri="{FF2B5EF4-FFF2-40B4-BE49-F238E27FC236}">
                <a16:creationId xmlns:a16="http://schemas.microsoft.com/office/drawing/2014/main" id="{829EFC8B-87E0-455F-A82E-98ABC029487B}"/>
              </a:ext>
            </a:extLst>
          </p:cNvPr>
          <p:cNvSpPr>
            <a:spLocks xmlns:a="http://schemas.openxmlformats.org/drawingml/2006/main" noGrp="1"/>
          </p:cNvSpPr>
          <p:nvPr/>
        </p:nvSpPr>
        <p:spPr>
          <a:xfrm xmlns:a="http://schemas.openxmlformats.org/drawingml/2006/main">
            <a:off x="704850" y="2609850"/>
            <a:ext cx="571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E0EAE5"/>
                </a:solidFill>
                <a:latin typeface="Avenir Next"/>
                <a:ea typeface="Avenir Next"/>
                <a:cs typeface="Avenir Next"/>
              </a:defRPr>
            </a:pPr>
            <a:r>
              <a:rPr sz="1875" b="0">
                <a:solidFill>
                  <a:srgbClr val="E0EAE5"/>
                </a:solidFill>
                <a:latin typeface="Avenir Next"/>
                <a:ea typeface="Avenir Next"/>
                <a:cs typeface="Avenir Next"/>
              </a:rPr>
              <a:t>Turn scattered service signals into a clear, evidence-led next step.</a:t>
            </a:r>
          </a:p>
        </p:txBody>
      </p:sp>
      <p:sp>
        <p:nvSpPr>
          <p:cNvPr id="5" name="">
            <a:extLst xmlns:a="http://schemas.openxmlformats.org/drawingml/2006/main">
              <a:ext uri="{FF2B5EF4-FFF2-40B4-BE49-F238E27FC236}">
                <a16:creationId xmlns:a16="http://schemas.microsoft.com/office/drawing/2014/main" id="{2125BF23-8B53-4460-9D3F-721725B1FD69}"/>
              </a:ext>
            </a:extLst>
          </p:cNvPr>
          <p:cNvSpPr>
            <a:spLocks xmlns:a="http://schemas.openxmlformats.org/drawingml/2006/main" noGrp="1"/>
          </p:cNvSpPr>
          <p:nvPr/>
        </p:nvSpPr>
        <p:spPr>
          <a:xfrm xmlns:a="http://schemas.openxmlformats.org/drawingml/2006/main">
            <a:off x="704850" y="3724275"/>
            <a:ext cx="5429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FFFFFF"/>
                </a:solidFill>
                <a:latin typeface="Avenir Next"/>
                <a:ea typeface="Avenir Next"/>
                <a:cs typeface="Avenir Next"/>
              </a:defRPr>
            </a:pPr>
            <a:r>
              <a:rPr sz="1425" b="0">
                <a:solidFill>
                  <a:srgbClr val="FFFFFF"/>
                </a:solidFill>
                <a:latin typeface="Avenir Next"/>
                <a:ea typeface="Avenir Next"/>
                <a:cs typeface="Avenir Next"/>
              </a:rPr>
              <a:t>A working local prototype for insurance and lending service teams.</a:t>
            </a:r>
          </a:p>
        </p:txBody>
      </p:sp>
      <p:sp>
        <p:nvSpPr>
          <p:cNvPr id="6" name="">
            <a:extLst xmlns:a="http://schemas.openxmlformats.org/drawingml/2006/main">
              <a:ext uri="{FF2B5EF4-FFF2-40B4-BE49-F238E27FC236}">
                <a16:creationId xmlns:a16="http://schemas.microsoft.com/office/drawing/2014/main" id="{5E653C54-AF6F-40A1-BCA9-6CE5BD047EED}"/>
              </a:ext>
            </a:extLst>
          </p:cNvPr>
          <p:cNvSpPr>
            <a:spLocks xmlns:a="http://schemas.openxmlformats.org/drawingml/2006/main" noGrp="1"/>
          </p:cNvSpPr>
          <p:nvPr/>
        </p:nvSpPr>
        <p:spPr>
          <a:xfrm xmlns:a="http://schemas.openxmlformats.org/drawingml/2006/main">
            <a:off x="7239000" y="800100"/>
            <a:ext cx="4238625" cy="4686300"/>
          </a:xfrm>
          <a:prstGeom xmlns:a="http://schemas.openxmlformats.org/drawingml/2006/main" prst="roundRect">
            <a:avLst>
              <a:gd name="adj" fmla="val 1798"/>
            </a:avLst>
          </a:prstGeom>
          <a:solidFill xmlns:a="http://schemas.openxmlformats.org/drawingml/2006/main">
            <a:srgbClr val="21372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12D3396-D105-4464-B0CF-866DF5007251}"/>
              </a:ext>
            </a:extLst>
          </p:cNvPr>
          <p:cNvSpPr>
            <a:spLocks xmlns:a="http://schemas.openxmlformats.org/drawingml/2006/main" noGrp="1"/>
          </p:cNvSpPr>
          <p:nvPr/>
        </p:nvSpPr>
        <p:spPr>
          <a:xfrm xmlns:a="http://schemas.openxmlformats.org/drawingml/2006/main">
            <a:off x="7562850" y="1123950"/>
            <a:ext cx="3476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A9D8C9"/>
                </a:solidFill>
                <a:latin typeface="Avenir Next"/>
                <a:ea typeface="Avenir Next"/>
                <a:cs typeface="Avenir Next"/>
              </a:defRPr>
            </a:pPr>
            <a:r>
              <a:rPr sz="1050" b="1">
                <a:solidFill>
                  <a:srgbClr val="A9D8C9"/>
                </a:solidFill>
                <a:latin typeface="Avenir Next"/>
                <a:ea typeface="Avenir Next"/>
                <a:cs typeface="Avenir Next"/>
              </a:rPr>
              <a:t>DEMO DATA IN SNOWFLAKE</a:t>
            </a:r>
          </a:p>
        </p:txBody>
      </p:sp>
      <p:sp>
        <p:nvSpPr>
          <p:cNvPr id="8" name="">
            <a:extLst xmlns:a="http://schemas.openxmlformats.org/drawingml/2006/main">
              <a:ext uri="{FF2B5EF4-FFF2-40B4-BE49-F238E27FC236}">
                <a16:creationId xmlns:a16="http://schemas.microsoft.com/office/drawing/2014/main" id="{1E51F8F7-C2B3-464E-8ED0-9CF3BF9C600C}"/>
              </a:ext>
            </a:extLst>
          </p:cNvPr>
          <p:cNvSpPr>
            <a:spLocks xmlns:a="http://schemas.openxmlformats.org/drawingml/2006/main" noGrp="1"/>
          </p:cNvSpPr>
          <p:nvPr/>
        </p:nvSpPr>
        <p:spPr>
          <a:xfrm xmlns:a="http://schemas.openxmlformats.org/drawingml/2006/main">
            <a:off x="7562850" y="1695450"/>
            <a:ext cx="1562100" cy="10668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1FF5CCE-7EBB-40CD-93F6-B986A2861F07}"/>
              </a:ext>
            </a:extLst>
          </p:cNvPr>
          <p:cNvSpPr>
            <a:spLocks xmlns:a="http://schemas.openxmlformats.org/drawingml/2006/main" noGrp="1"/>
          </p:cNvSpPr>
          <p:nvPr/>
        </p:nvSpPr>
        <p:spPr>
          <a:xfrm xmlns:a="http://schemas.openxmlformats.org/drawingml/2006/main">
            <a:off x="7562850" y="1695450"/>
            <a:ext cx="57150" cy="1066800"/>
          </a:xfrm>
          <a:prstGeom xmlns:a="http://schemas.openxmlformats.org/drawingml/2006/main" prst="rect">
            <a:avLst/>
          </a:prstGeom>
          <a:solidFill xmlns:a="http://schemas.openxmlformats.org/drawingml/2006/main">
            <a:srgbClr val="137A6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3801498-7458-4A12-ACFB-144433EC6023}"/>
              </a:ext>
            </a:extLst>
          </p:cNvPr>
          <p:cNvSpPr>
            <a:spLocks xmlns:a="http://schemas.openxmlformats.org/drawingml/2006/main" noGrp="1"/>
          </p:cNvSpPr>
          <p:nvPr/>
        </p:nvSpPr>
        <p:spPr>
          <a:xfrm xmlns:a="http://schemas.openxmlformats.org/drawingml/2006/main">
            <a:off x="7753350" y="1838325"/>
            <a:ext cx="119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12"/>
          </a:bodyPr>
          <a:lstStyle xmlns:a="http://schemas.openxmlformats.org/drawingml/2006/main"/>
          <a:p xmlns:a="http://schemas.openxmlformats.org/drawingml/2006/main">
            <a:pPr algn="l">
              <a:defRPr sz="2550" b="1">
                <a:solidFill>
                  <a:srgbClr val="137A63"/>
                </a:solidFill>
                <a:latin typeface="Avenir Next"/>
                <a:ea typeface="Avenir Next"/>
                <a:cs typeface="Avenir Next"/>
              </a:defRPr>
            </a:pPr>
            <a:r>
              <a:rPr sz="2550" b="1">
                <a:solidFill>
                  <a:srgbClr val="137A63"/>
                </a:solidFill>
                <a:latin typeface="Avenir Next"/>
                <a:ea typeface="Avenir Next"/>
                <a:cs typeface="Avenir Next"/>
              </a:rPr>
              <a:t>10</a:t>
            </a:r>
          </a:p>
        </p:txBody>
      </p:sp>
      <p:sp>
        <p:nvSpPr>
          <p:cNvPr id="11" name="">
            <a:extLst xmlns:a="http://schemas.openxmlformats.org/drawingml/2006/main">
              <a:ext uri="{FF2B5EF4-FFF2-40B4-BE49-F238E27FC236}">
                <a16:creationId xmlns:a16="http://schemas.microsoft.com/office/drawing/2014/main" id="{4F7E535E-B74B-41F4-AC98-792370ACDADB}"/>
              </a:ext>
            </a:extLst>
          </p:cNvPr>
          <p:cNvSpPr>
            <a:spLocks xmlns:a="http://schemas.openxmlformats.org/drawingml/2006/main" noGrp="1"/>
          </p:cNvSpPr>
          <p:nvPr/>
        </p:nvSpPr>
        <p:spPr>
          <a:xfrm xmlns:a="http://schemas.openxmlformats.org/drawingml/2006/main">
            <a:off x="7753350" y="228600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17241F"/>
                </a:solidFill>
                <a:latin typeface="Avenir Next"/>
                <a:ea typeface="Avenir Next"/>
                <a:cs typeface="Avenir Next"/>
              </a:defRPr>
            </a:pPr>
            <a:r>
              <a:rPr sz="1125" b="0">
                <a:solidFill>
                  <a:srgbClr val="17241F"/>
                </a:solidFill>
                <a:latin typeface="Avenir Next"/>
                <a:ea typeface="Avenir Next"/>
                <a:cs typeface="Avenir Next"/>
              </a:rPr>
              <a:t>customers</a:t>
            </a:r>
          </a:p>
        </p:txBody>
      </p:sp>
      <p:sp>
        <p:nvSpPr>
          <p:cNvPr id="12" name="">
            <a:extLst xmlns:a="http://schemas.openxmlformats.org/drawingml/2006/main">
              <a:ext uri="{FF2B5EF4-FFF2-40B4-BE49-F238E27FC236}">
                <a16:creationId xmlns:a16="http://schemas.microsoft.com/office/drawing/2014/main" id="{96AA5034-D0EB-4132-AE19-242E0CCA9AB6}"/>
              </a:ext>
            </a:extLst>
          </p:cNvPr>
          <p:cNvSpPr>
            <a:spLocks xmlns:a="http://schemas.openxmlformats.org/drawingml/2006/main" noGrp="1"/>
          </p:cNvSpPr>
          <p:nvPr/>
        </p:nvSpPr>
        <p:spPr>
          <a:xfrm xmlns:a="http://schemas.openxmlformats.org/drawingml/2006/main">
            <a:off x="9372600" y="1695450"/>
            <a:ext cx="1562100" cy="10668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207CF14-7D17-44B9-814C-A739001370DF}"/>
              </a:ext>
            </a:extLst>
          </p:cNvPr>
          <p:cNvSpPr>
            <a:spLocks xmlns:a="http://schemas.openxmlformats.org/drawingml/2006/main" noGrp="1"/>
          </p:cNvSpPr>
          <p:nvPr/>
        </p:nvSpPr>
        <p:spPr>
          <a:xfrm xmlns:a="http://schemas.openxmlformats.org/drawingml/2006/main">
            <a:off x="9372600" y="1695450"/>
            <a:ext cx="57150" cy="1066800"/>
          </a:xfrm>
          <a:prstGeom xmlns:a="http://schemas.openxmlformats.org/drawingml/2006/main" prst="rect">
            <a:avLst/>
          </a:prstGeom>
          <a:solidFill xmlns:a="http://schemas.openxmlformats.org/drawingml/2006/main">
            <a:srgbClr val="316C9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2FB97CF-7D81-4E6D-9201-35C6F57C2DBD}"/>
              </a:ext>
            </a:extLst>
          </p:cNvPr>
          <p:cNvSpPr>
            <a:spLocks xmlns:a="http://schemas.openxmlformats.org/drawingml/2006/main" noGrp="1"/>
          </p:cNvSpPr>
          <p:nvPr/>
        </p:nvSpPr>
        <p:spPr>
          <a:xfrm xmlns:a="http://schemas.openxmlformats.org/drawingml/2006/main">
            <a:off x="9563100" y="1838325"/>
            <a:ext cx="119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12"/>
          </a:bodyPr>
          <a:lstStyle xmlns:a="http://schemas.openxmlformats.org/drawingml/2006/main"/>
          <a:p xmlns:a="http://schemas.openxmlformats.org/drawingml/2006/main">
            <a:pPr algn="l">
              <a:defRPr sz="2550" b="1">
                <a:solidFill>
                  <a:srgbClr val="316C9B"/>
                </a:solidFill>
                <a:latin typeface="Avenir Next"/>
                <a:ea typeface="Avenir Next"/>
                <a:cs typeface="Avenir Next"/>
              </a:defRPr>
            </a:pPr>
            <a:r>
              <a:rPr sz="2550" b="1">
                <a:solidFill>
                  <a:srgbClr val="316C9B"/>
                </a:solidFill>
                <a:latin typeface="Avenir Next"/>
                <a:ea typeface="Avenir Next"/>
                <a:cs typeface="Avenir Next"/>
              </a:rPr>
              <a:t>12</a:t>
            </a:r>
          </a:p>
        </p:txBody>
      </p:sp>
      <p:sp>
        <p:nvSpPr>
          <p:cNvPr id="15" name="">
            <a:extLst xmlns:a="http://schemas.openxmlformats.org/drawingml/2006/main">
              <a:ext uri="{FF2B5EF4-FFF2-40B4-BE49-F238E27FC236}">
                <a16:creationId xmlns:a16="http://schemas.microsoft.com/office/drawing/2014/main" id="{6CB484E4-4807-4B23-9D9A-401D6768D7C6}"/>
              </a:ext>
            </a:extLst>
          </p:cNvPr>
          <p:cNvSpPr>
            <a:spLocks xmlns:a="http://schemas.openxmlformats.org/drawingml/2006/main" noGrp="1"/>
          </p:cNvSpPr>
          <p:nvPr/>
        </p:nvSpPr>
        <p:spPr>
          <a:xfrm xmlns:a="http://schemas.openxmlformats.org/drawingml/2006/main">
            <a:off x="9563100" y="228600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17241F"/>
                </a:solidFill>
                <a:latin typeface="Avenir Next"/>
                <a:ea typeface="Avenir Next"/>
                <a:cs typeface="Avenir Next"/>
              </a:defRPr>
            </a:pPr>
            <a:r>
              <a:rPr sz="1125" b="0">
                <a:solidFill>
                  <a:srgbClr val="17241F"/>
                </a:solidFill>
                <a:latin typeface="Avenir Next"/>
                <a:ea typeface="Avenir Next"/>
                <a:cs typeface="Avenir Next"/>
              </a:rPr>
              <a:t>accounts</a:t>
            </a:r>
          </a:p>
        </p:txBody>
      </p:sp>
      <p:sp>
        <p:nvSpPr>
          <p:cNvPr id="16" name="">
            <a:extLst xmlns:a="http://schemas.openxmlformats.org/drawingml/2006/main">
              <a:ext uri="{FF2B5EF4-FFF2-40B4-BE49-F238E27FC236}">
                <a16:creationId xmlns:a16="http://schemas.microsoft.com/office/drawing/2014/main" id="{5F97D2E8-5C16-439B-AC24-BA60ACC3A6AA}"/>
              </a:ext>
            </a:extLst>
          </p:cNvPr>
          <p:cNvSpPr>
            <a:spLocks xmlns:a="http://schemas.openxmlformats.org/drawingml/2006/main" noGrp="1"/>
          </p:cNvSpPr>
          <p:nvPr/>
        </p:nvSpPr>
        <p:spPr>
          <a:xfrm xmlns:a="http://schemas.openxmlformats.org/drawingml/2006/main">
            <a:off x="7562850" y="3067050"/>
            <a:ext cx="1562100" cy="10668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C5AAA44-F719-485F-BB46-16CF3F9414A6}"/>
              </a:ext>
            </a:extLst>
          </p:cNvPr>
          <p:cNvSpPr>
            <a:spLocks xmlns:a="http://schemas.openxmlformats.org/drawingml/2006/main" noGrp="1"/>
          </p:cNvSpPr>
          <p:nvPr/>
        </p:nvSpPr>
        <p:spPr>
          <a:xfrm xmlns:a="http://schemas.openxmlformats.org/drawingml/2006/main">
            <a:off x="7562850" y="3067050"/>
            <a:ext cx="57150" cy="1066800"/>
          </a:xfrm>
          <a:prstGeom xmlns:a="http://schemas.openxmlformats.org/drawingml/2006/main" prst="rect">
            <a:avLst/>
          </a:prstGeom>
          <a:solidFill xmlns:a="http://schemas.openxmlformats.org/drawingml/2006/main">
            <a:srgbClr val="C553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2BE59CB-7DD6-43E6-AFA2-94F14074954F}"/>
              </a:ext>
            </a:extLst>
          </p:cNvPr>
          <p:cNvSpPr>
            <a:spLocks xmlns:a="http://schemas.openxmlformats.org/drawingml/2006/main" noGrp="1"/>
          </p:cNvSpPr>
          <p:nvPr/>
        </p:nvSpPr>
        <p:spPr>
          <a:xfrm xmlns:a="http://schemas.openxmlformats.org/drawingml/2006/main">
            <a:off x="7753350" y="3209925"/>
            <a:ext cx="119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12"/>
          </a:bodyPr>
          <a:lstStyle xmlns:a="http://schemas.openxmlformats.org/drawingml/2006/main"/>
          <a:p xmlns:a="http://schemas.openxmlformats.org/drawingml/2006/main">
            <a:pPr algn="l">
              <a:defRPr sz="2550" b="1">
                <a:solidFill>
                  <a:srgbClr val="C5533C"/>
                </a:solidFill>
                <a:latin typeface="Avenir Next"/>
                <a:ea typeface="Avenir Next"/>
                <a:cs typeface="Avenir Next"/>
              </a:defRPr>
            </a:pPr>
            <a:r>
              <a:rPr sz="2550" b="1">
                <a:solidFill>
                  <a:srgbClr val="C5533C"/>
                </a:solidFill>
                <a:latin typeface="Avenir Next"/>
                <a:ea typeface="Avenir Next"/>
                <a:cs typeface="Avenir Next"/>
              </a:rPr>
              <a:t>11</a:t>
            </a:r>
          </a:p>
        </p:txBody>
      </p:sp>
      <p:sp>
        <p:nvSpPr>
          <p:cNvPr id="19" name="">
            <a:extLst xmlns:a="http://schemas.openxmlformats.org/drawingml/2006/main">
              <a:ext uri="{FF2B5EF4-FFF2-40B4-BE49-F238E27FC236}">
                <a16:creationId xmlns:a16="http://schemas.microsoft.com/office/drawing/2014/main" id="{748B6B81-16B1-4643-A428-17CEEDF50E63}"/>
              </a:ext>
            </a:extLst>
          </p:cNvPr>
          <p:cNvSpPr>
            <a:spLocks xmlns:a="http://schemas.openxmlformats.org/drawingml/2006/main" noGrp="1"/>
          </p:cNvSpPr>
          <p:nvPr/>
        </p:nvSpPr>
        <p:spPr>
          <a:xfrm xmlns:a="http://schemas.openxmlformats.org/drawingml/2006/main">
            <a:off x="7753350" y="365760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17241F"/>
                </a:solidFill>
                <a:latin typeface="Avenir Next"/>
                <a:ea typeface="Avenir Next"/>
                <a:cs typeface="Avenir Next"/>
              </a:defRPr>
            </a:pPr>
            <a:r>
              <a:rPr sz="1125" b="0">
                <a:solidFill>
                  <a:srgbClr val="17241F"/>
                </a:solidFill>
                <a:latin typeface="Avenir Next"/>
                <a:ea typeface="Avenir Next"/>
                <a:cs typeface="Avenir Next"/>
              </a:rPr>
              <a:t>interactions</a:t>
            </a:r>
          </a:p>
        </p:txBody>
      </p:sp>
      <p:sp>
        <p:nvSpPr>
          <p:cNvPr id="20" name="">
            <a:extLst xmlns:a="http://schemas.openxmlformats.org/drawingml/2006/main">
              <a:ext uri="{FF2B5EF4-FFF2-40B4-BE49-F238E27FC236}">
                <a16:creationId xmlns:a16="http://schemas.microsoft.com/office/drawing/2014/main" id="{60291E4F-D9B3-4E2D-BD31-4CECB3A8D431}"/>
              </a:ext>
            </a:extLst>
          </p:cNvPr>
          <p:cNvSpPr>
            <a:spLocks xmlns:a="http://schemas.openxmlformats.org/drawingml/2006/main" noGrp="1"/>
          </p:cNvSpPr>
          <p:nvPr/>
        </p:nvSpPr>
        <p:spPr>
          <a:xfrm xmlns:a="http://schemas.openxmlformats.org/drawingml/2006/main">
            <a:off x="9372600" y="3067050"/>
            <a:ext cx="1562100" cy="10668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8DC6510-84F7-45D0-91DB-99E5863CB486}"/>
              </a:ext>
            </a:extLst>
          </p:cNvPr>
          <p:cNvSpPr>
            <a:spLocks xmlns:a="http://schemas.openxmlformats.org/drawingml/2006/main" noGrp="1"/>
          </p:cNvSpPr>
          <p:nvPr/>
        </p:nvSpPr>
        <p:spPr>
          <a:xfrm xmlns:a="http://schemas.openxmlformats.org/drawingml/2006/main">
            <a:off x="9372600" y="3067050"/>
            <a:ext cx="57150" cy="1066800"/>
          </a:xfrm>
          <a:prstGeom xmlns:a="http://schemas.openxmlformats.org/drawingml/2006/main" prst="rect">
            <a:avLst/>
          </a:prstGeom>
          <a:solidFill xmlns:a="http://schemas.openxmlformats.org/drawingml/2006/main">
            <a:srgbClr val="758C3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DD38B61-78D1-4CE1-B89C-17FFCC10A1E0}"/>
              </a:ext>
            </a:extLst>
          </p:cNvPr>
          <p:cNvSpPr>
            <a:spLocks xmlns:a="http://schemas.openxmlformats.org/drawingml/2006/main" noGrp="1"/>
          </p:cNvSpPr>
          <p:nvPr/>
        </p:nvSpPr>
        <p:spPr>
          <a:xfrm xmlns:a="http://schemas.openxmlformats.org/drawingml/2006/main">
            <a:off x="9563100" y="3209925"/>
            <a:ext cx="119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12"/>
          </a:bodyPr>
          <a:lstStyle xmlns:a="http://schemas.openxmlformats.org/drawingml/2006/main"/>
          <a:p xmlns:a="http://schemas.openxmlformats.org/drawingml/2006/main">
            <a:pPr algn="l">
              <a:defRPr sz="2550" b="1">
                <a:solidFill>
                  <a:srgbClr val="758C3F"/>
                </a:solidFill>
                <a:latin typeface="Avenir Next"/>
                <a:ea typeface="Avenir Next"/>
                <a:cs typeface="Avenir Next"/>
              </a:defRPr>
            </a:pPr>
            <a:r>
              <a:rPr sz="2550" b="1">
                <a:solidFill>
                  <a:srgbClr val="758C3F"/>
                </a:solidFill>
                <a:latin typeface="Avenir Next"/>
                <a:ea typeface="Avenir Next"/>
                <a:cs typeface="Avenir Next"/>
              </a:rPr>
              <a:t>10</a:t>
            </a:r>
          </a:p>
        </p:txBody>
      </p:sp>
      <p:sp>
        <p:nvSpPr>
          <p:cNvPr id="23" name="">
            <a:extLst xmlns:a="http://schemas.openxmlformats.org/drawingml/2006/main">
              <a:ext uri="{FF2B5EF4-FFF2-40B4-BE49-F238E27FC236}">
                <a16:creationId xmlns:a16="http://schemas.microsoft.com/office/drawing/2014/main" id="{03898D78-C83B-4C1D-A9DA-A1509644FB14}"/>
              </a:ext>
            </a:extLst>
          </p:cNvPr>
          <p:cNvSpPr>
            <a:spLocks xmlns:a="http://schemas.openxmlformats.org/drawingml/2006/main" noGrp="1"/>
          </p:cNvSpPr>
          <p:nvPr/>
        </p:nvSpPr>
        <p:spPr>
          <a:xfrm xmlns:a="http://schemas.openxmlformats.org/drawingml/2006/main">
            <a:off x="9563100" y="365760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463"/>
          </a:bodyPr>
          <a:lstStyle xmlns:a="http://schemas.openxmlformats.org/drawingml/2006/main"/>
          <a:p xmlns:a="http://schemas.openxmlformats.org/drawingml/2006/main">
            <a:pPr algn="l">
              <a:defRPr sz="1125" b="0">
                <a:solidFill>
                  <a:srgbClr val="17241F"/>
                </a:solidFill>
                <a:latin typeface="Avenir Next"/>
                <a:ea typeface="Avenir Next"/>
                <a:cs typeface="Avenir Next"/>
              </a:defRPr>
            </a:pPr>
            <a:r>
              <a:rPr sz="1125" b="0">
                <a:solidFill>
                  <a:srgbClr val="17241F"/>
                </a:solidFill>
                <a:latin typeface="Avenir Next"/>
                <a:ea typeface="Avenir Next"/>
                <a:cs typeface="Avenir Next"/>
              </a:rPr>
              <a:t>Customer 360 rows</a:t>
            </a:r>
          </a:p>
        </p:txBody>
      </p:sp>
      <p:sp>
        <p:nvSpPr>
          <p:cNvPr id="24" name="">
            <a:extLst xmlns:a="http://schemas.openxmlformats.org/drawingml/2006/main">
              <a:ext uri="{FF2B5EF4-FFF2-40B4-BE49-F238E27FC236}">
                <a16:creationId xmlns:a16="http://schemas.microsoft.com/office/drawing/2014/main" id="{8FA7CF09-1464-4211-9CCA-901AB7DBFFA4}"/>
              </a:ext>
            </a:extLst>
          </p:cNvPr>
          <p:cNvSpPr>
            <a:spLocks xmlns:a="http://schemas.openxmlformats.org/drawingml/2006/main" noGrp="1"/>
          </p:cNvSpPr>
          <p:nvPr/>
        </p:nvSpPr>
        <p:spPr>
          <a:xfrm xmlns:a="http://schemas.openxmlformats.org/drawingml/2006/main">
            <a:off x="685800" y="600075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D2DDD7"/>
                </a:solidFill>
                <a:latin typeface="Avenir Next"/>
                <a:ea typeface="Avenir Next"/>
                <a:cs typeface="Avenir Next"/>
              </a:defRPr>
            </a:pPr>
            <a:r>
              <a:rPr sz="1125" b="0">
                <a:solidFill>
                  <a:srgbClr val="D2DDD7"/>
                </a:solidFill>
                <a:latin typeface="Avenir Next"/>
                <a:ea typeface="Avenir Next"/>
                <a:cs typeface="Avenir Next"/>
              </a:rPr>
              <a:t>Verified warehouse setup · Streamlit app remains CSV-backed · Cortex inference not run</a:t>
            </a:r>
          </a:p>
        </p:txBody>
      </p:sp>
      <p:sp>
        <p:nvSpPr>
          <p:cNvPr id="25" name="">
            <a:extLst xmlns:a="http://schemas.openxmlformats.org/drawingml/2006/main">
              <a:ext uri="{FF2B5EF4-FFF2-40B4-BE49-F238E27FC236}">
                <a16:creationId xmlns:a16="http://schemas.microsoft.com/office/drawing/2014/main" id="{44DE0862-EC77-43BF-9B1C-537F84770232}"/>
              </a:ext>
            </a:extLst>
          </p:cNvPr>
          <p:cNvSpPr>
            <a:spLocks xmlns:a="http://schemas.openxmlformats.org/drawingml/2006/main" noGrp="1"/>
          </p:cNvSpPr>
          <p:nvPr/>
        </p:nvSpPr>
        <p:spPr>
          <a:xfrm xmlns:a="http://schemas.openxmlformats.org/drawingml/2006/main">
            <a:off x="10877550" y="6419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A9D8C9"/>
                </a:solidFill>
                <a:latin typeface="Avenir Next"/>
                <a:ea typeface="Avenir Next"/>
                <a:cs typeface="Avenir Next"/>
              </a:defRPr>
            </a:pPr>
            <a:r>
              <a:rPr sz="975" b="1">
                <a:solidFill>
                  <a:srgbClr val="A9D8C9"/>
                </a:solidFill>
                <a:latin typeface="Avenir Next"/>
                <a:ea typeface="Avenir Next"/>
                <a:cs typeface="Avenir Next"/>
              </a:rPr>
              <a:t>01</a:t>
            </a:r>
          </a:p>
        </p:txBody>
      </p:sp>
    </p:spTree>
    <p:extLst>
      <p:ext uri="{BB962C8B-B14F-4D97-AF65-F5344CB8AC3E}">
        <p14:creationId xmlns:p14="http://schemas.microsoft.com/office/powerpoint/2010/main" val="698391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B2962AA-197C-49A9-BDC9-A890046FEA0A}"/>
              </a:ext>
            </a:extLst>
          </p:cNvPr>
          <p:cNvSpPr>
            <a:spLocks xmlns:a="http://schemas.openxmlformats.org/drawingml/2006/main" noGrp="1"/>
          </p:cNvSpPr>
          <p:nvPr/>
        </p:nvSpPr>
        <p:spPr>
          <a:xfrm xmlns:a="http://schemas.openxmlformats.org/drawingml/2006/main">
            <a:off x="64770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137A63"/>
                </a:solidFill>
                <a:latin typeface="Avenir Next"/>
                <a:ea typeface="Avenir Next"/>
                <a:cs typeface="Avenir Next"/>
              </a:defRPr>
            </a:pPr>
            <a:r>
              <a:rPr sz="975" b="1">
                <a:solidFill>
                  <a:srgbClr val="137A63"/>
                </a:solidFill>
                <a:latin typeface="Avenir Next"/>
                <a:ea typeface="Avenir Next"/>
                <a:cs typeface="Avenir Next"/>
              </a:rPr>
              <a:t>COCO CLI HACKATHON · GCC EDITION</a:t>
            </a:r>
          </a:p>
        </p:txBody>
      </p:sp>
      <p:sp>
        <p:nvSpPr>
          <p:cNvPr id="2" name="">
            <a:extLst xmlns:a="http://schemas.openxmlformats.org/drawingml/2006/main">
              <a:ext uri="{FF2B5EF4-FFF2-40B4-BE49-F238E27FC236}">
                <a16:creationId xmlns:a16="http://schemas.microsoft.com/office/drawing/2014/main" id="{330D5971-CC5D-4AE7-9805-532D54D01382}"/>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41F"/>
                </a:solidFill>
                <a:latin typeface="Avenir Next"/>
                <a:ea typeface="Avenir Next"/>
                <a:cs typeface="Avenir Next"/>
              </a:defRPr>
            </a:pPr>
            <a:r>
              <a:rPr sz="2550" b="1">
                <a:solidFill>
                  <a:srgbClr val="17241F"/>
                </a:solidFill>
                <a:latin typeface="Avenir Next"/>
                <a:ea typeface="Avenir Next"/>
                <a:cs typeface="Avenir Next"/>
              </a:rPr>
              <a:t>Problem brief: fragmented records slow service recovery</a:t>
            </a:r>
          </a:p>
        </p:txBody>
      </p:sp>
      <p:sp>
        <p:nvSpPr>
          <p:cNvPr id="3" name="">
            <a:extLst xmlns:a="http://schemas.openxmlformats.org/drawingml/2006/main">
              <a:ext uri="{FF2B5EF4-FFF2-40B4-BE49-F238E27FC236}">
                <a16:creationId xmlns:a16="http://schemas.microsoft.com/office/drawing/2014/main" id="{65B4DFE7-8C59-4412-9D29-99FD5CF9085F}"/>
              </a:ext>
            </a:extLst>
          </p:cNvPr>
          <p:cNvSpPr>
            <a:spLocks xmlns:a="http://schemas.openxmlformats.org/drawingml/2006/main" noGrp="1"/>
          </p:cNvSpPr>
          <p:nvPr/>
        </p:nvSpPr>
        <p:spPr>
          <a:xfrm xmlns:a="http://schemas.openxmlformats.org/drawingml/2006/main">
            <a:off x="647700" y="1323975"/>
            <a:ext cx="10896600"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ED2AA28-7B24-440C-9E28-BF0B421279AA}"/>
              </a:ext>
            </a:extLst>
          </p:cNvPr>
          <p:cNvSpPr>
            <a:spLocks xmlns:a="http://schemas.openxmlformats.org/drawingml/2006/main" noGrp="1"/>
          </p:cNvSpPr>
          <p:nvPr/>
        </p:nvSpPr>
        <p:spPr>
          <a:xfrm xmlns:a="http://schemas.openxmlformats.org/drawingml/2006/main">
            <a:off x="647700" y="6438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2222"/>
          </a:bodyPr>
          <a:lstStyle xmlns:a="http://schemas.openxmlformats.org/drawingml/2006/main"/>
          <a:p xmlns:a="http://schemas.openxmlformats.org/drawingml/2006/main">
            <a:pPr algn="l">
              <a:defRPr sz="900" b="0">
                <a:solidFill>
                  <a:srgbClr val="79847E"/>
                </a:solidFill>
                <a:latin typeface="Avenir Next"/>
                <a:ea typeface="Avenir Next"/>
                <a:cs typeface="Avenir Next"/>
              </a:defRPr>
            </a:pPr>
            <a:r>
              <a:rPr sz="900" b="0">
                <a:solidFill>
                  <a:srgbClr val="79847E"/>
                </a:solidFill>
                <a:latin typeface="Avenir Next"/>
                <a:ea typeface="Avenir Next"/>
                <a:cs typeface="Avenir Next"/>
              </a:rPr>
              <a:t>Synthetic demonstration · Rules-based service triage · No measured business impact</a:t>
            </a:r>
          </a:p>
        </p:txBody>
      </p:sp>
      <p:sp>
        <p:nvSpPr>
          <p:cNvPr id="5" name="">
            <a:extLst xmlns:a="http://schemas.openxmlformats.org/drawingml/2006/main">
              <a:ext uri="{FF2B5EF4-FFF2-40B4-BE49-F238E27FC236}">
                <a16:creationId xmlns:a16="http://schemas.microsoft.com/office/drawing/2014/main" id="{B722D046-C167-481E-B34E-08A8BE61243D}"/>
              </a:ext>
            </a:extLst>
          </p:cNvPr>
          <p:cNvSpPr>
            <a:spLocks xmlns:a="http://schemas.openxmlformats.org/drawingml/2006/main" noGrp="1"/>
          </p:cNvSpPr>
          <p:nvPr/>
        </p:nvSpPr>
        <p:spPr>
          <a:xfrm xmlns:a="http://schemas.openxmlformats.org/drawingml/2006/main">
            <a:off x="10858500" y="6419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137A63"/>
                </a:solidFill>
                <a:latin typeface="Avenir Next"/>
                <a:ea typeface="Avenir Next"/>
                <a:cs typeface="Avenir Next"/>
              </a:defRPr>
            </a:pPr>
            <a:r>
              <a:rPr sz="975" b="1">
                <a:solidFill>
                  <a:srgbClr val="137A63"/>
                </a:solidFill>
                <a:latin typeface="Avenir Next"/>
                <a:ea typeface="Avenir Next"/>
                <a:cs typeface="Avenir Next"/>
              </a:rPr>
              <a:t>02</a:t>
            </a:r>
          </a:p>
        </p:txBody>
      </p:sp>
      <p:sp>
        <p:nvSpPr>
          <p:cNvPr id="6" name="">
            <a:extLst xmlns:a="http://schemas.openxmlformats.org/drawingml/2006/main">
              <a:ext uri="{FF2B5EF4-FFF2-40B4-BE49-F238E27FC236}">
                <a16:creationId xmlns:a16="http://schemas.microsoft.com/office/drawing/2014/main" id="{25A4C15C-7F11-4B4A-B1B6-8389305594B5}"/>
              </a:ext>
            </a:extLst>
          </p:cNvPr>
          <p:cNvSpPr>
            <a:spLocks xmlns:a="http://schemas.openxmlformats.org/drawingml/2006/main" noGrp="1"/>
          </p:cNvSpPr>
          <p:nvPr/>
        </p:nvSpPr>
        <p:spPr>
          <a:xfrm xmlns:a="http://schemas.openxmlformats.org/drawingml/2006/main">
            <a:off x="647700" y="1562100"/>
            <a:ext cx="485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C5533C"/>
                </a:solidFill>
                <a:latin typeface="Avenir Next"/>
                <a:ea typeface="Avenir Next"/>
                <a:cs typeface="Avenir Next"/>
              </a:defRPr>
            </a:pPr>
            <a:r>
              <a:rPr sz="1050" b="1">
                <a:solidFill>
                  <a:srgbClr val="C5533C"/>
                </a:solidFill>
                <a:latin typeface="Avenir Next"/>
                <a:ea typeface="Avenir Next"/>
                <a:cs typeface="Avenir Next"/>
              </a:rPr>
              <a:t>THE OPERATIONAL GAP</a:t>
            </a:r>
          </a:p>
        </p:txBody>
      </p:sp>
      <p:sp>
        <p:nvSpPr>
          <p:cNvPr id="7" name="">
            <a:extLst xmlns:a="http://schemas.openxmlformats.org/drawingml/2006/main">
              <a:ext uri="{FF2B5EF4-FFF2-40B4-BE49-F238E27FC236}">
                <a16:creationId xmlns:a16="http://schemas.microsoft.com/office/drawing/2014/main" id="{1A7ABC56-23E8-4F57-9CC5-AD61D7CBEE20}"/>
              </a:ext>
            </a:extLst>
          </p:cNvPr>
          <p:cNvSpPr>
            <a:spLocks xmlns:a="http://schemas.openxmlformats.org/drawingml/2006/main" noGrp="1"/>
          </p:cNvSpPr>
          <p:nvPr/>
        </p:nvSpPr>
        <p:spPr>
          <a:xfrm xmlns:a="http://schemas.openxmlformats.org/drawingml/2006/main">
            <a:off x="647700" y="1914525"/>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30"/>
          </a:bodyPr>
          <a:lstStyle xmlns:a="http://schemas.openxmlformats.org/drawingml/2006/main"/>
          <a:p xmlns:a="http://schemas.openxmlformats.org/drawingml/2006/main">
            <a:pPr algn="l">
              <a:defRPr sz="1875" b="1">
                <a:solidFill>
                  <a:srgbClr val="17241F"/>
                </a:solidFill>
                <a:latin typeface="Avenir Next"/>
                <a:ea typeface="Avenir Next"/>
                <a:cs typeface="Avenir Next"/>
              </a:defRPr>
            </a:pPr>
            <a:r>
              <a:rPr sz="1875" b="1">
                <a:solidFill>
                  <a:srgbClr val="17241F"/>
                </a:solidFill>
                <a:latin typeface="Avenir Next"/>
                <a:ea typeface="Avenir Next"/>
                <a:cs typeface="Avenir Next"/>
              </a:rPr>
              <a:t>Agents piece together customer context across products, cases, and call notes.</a:t>
            </a:r>
          </a:p>
        </p:txBody>
      </p:sp>
      <p:sp>
        <p:nvSpPr>
          <p:cNvPr id="8" name="">
            <a:extLst xmlns:a="http://schemas.openxmlformats.org/drawingml/2006/main">
              <a:ext uri="{FF2B5EF4-FFF2-40B4-BE49-F238E27FC236}">
                <a16:creationId xmlns:a16="http://schemas.microsoft.com/office/drawing/2014/main" id="{F7DF31B3-6484-4A84-AEC4-E70F280B1433}"/>
              </a:ext>
            </a:extLst>
          </p:cNvPr>
          <p:cNvSpPr>
            <a:spLocks xmlns:a="http://schemas.openxmlformats.org/drawingml/2006/main" noGrp="1"/>
          </p:cNvSpPr>
          <p:nvPr/>
        </p:nvSpPr>
        <p:spPr>
          <a:xfrm xmlns:a="http://schemas.openxmlformats.org/drawingml/2006/main">
            <a:off x="666750" y="3000375"/>
            <a:ext cx="43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C5533C"/>
                </a:solidFill>
                <a:latin typeface="Avenir Next"/>
                <a:ea typeface="Avenir Next"/>
                <a:cs typeface="Avenir Next"/>
              </a:defRPr>
            </a:pPr>
            <a:r>
              <a:rPr sz="1125" b="1">
                <a:solidFill>
                  <a:srgbClr val="C5533C"/>
                </a:solidFill>
                <a:latin typeface="Avenir Next"/>
                <a:ea typeface="Avenir Next"/>
                <a:cs typeface="Avenir Next"/>
              </a:rPr>
              <a:t>01</a:t>
            </a:r>
          </a:p>
        </p:txBody>
      </p:sp>
      <p:sp>
        <p:nvSpPr>
          <p:cNvPr id="9" name="">
            <a:extLst xmlns:a="http://schemas.openxmlformats.org/drawingml/2006/main">
              <a:ext uri="{FF2B5EF4-FFF2-40B4-BE49-F238E27FC236}">
                <a16:creationId xmlns:a16="http://schemas.microsoft.com/office/drawing/2014/main" id="{07F628F8-579A-404E-82D7-D94D46C7FF3B}"/>
              </a:ext>
            </a:extLst>
          </p:cNvPr>
          <p:cNvSpPr>
            <a:spLocks xmlns:a="http://schemas.openxmlformats.org/drawingml/2006/main" noGrp="1"/>
          </p:cNvSpPr>
          <p:nvPr/>
        </p:nvSpPr>
        <p:spPr>
          <a:xfrm xmlns:a="http://schemas.openxmlformats.org/drawingml/2006/main">
            <a:off x="1181100" y="3000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1">
                <a:solidFill>
                  <a:srgbClr val="17241F"/>
                </a:solidFill>
                <a:latin typeface="Avenir Next"/>
                <a:ea typeface="Avenir Next"/>
                <a:cs typeface="Avenir Next"/>
              </a:defRPr>
            </a:pPr>
            <a:r>
              <a:rPr sz="1350" b="1">
                <a:solidFill>
                  <a:srgbClr val="17241F"/>
                </a:solidFill>
                <a:latin typeface="Avenir Next"/>
                <a:ea typeface="Avenir Next"/>
                <a:cs typeface="Avenir Next"/>
              </a:rPr>
              <a:t>Context is split</a:t>
            </a:r>
          </a:p>
        </p:txBody>
      </p:sp>
      <p:sp>
        <p:nvSpPr>
          <p:cNvPr id="10" name="">
            <a:extLst xmlns:a="http://schemas.openxmlformats.org/drawingml/2006/main">
              <a:ext uri="{FF2B5EF4-FFF2-40B4-BE49-F238E27FC236}">
                <a16:creationId xmlns:a16="http://schemas.microsoft.com/office/drawing/2014/main" id="{40117C29-371E-4475-B734-C207569480CE}"/>
              </a:ext>
            </a:extLst>
          </p:cNvPr>
          <p:cNvSpPr>
            <a:spLocks xmlns:a="http://schemas.openxmlformats.org/drawingml/2006/main" noGrp="1"/>
          </p:cNvSpPr>
          <p:nvPr/>
        </p:nvSpPr>
        <p:spPr>
          <a:xfrm xmlns:a="http://schemas.openxmlformats.org/drawingml/2006/main">
            <a:off x="1181100" y="3286125"/>
            <a:ext cx="3714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96"/>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Profile, account, and interaction history sit in different views.</a:t>
            </a:r>
          </a:p>
        </p:txBody>
      </p:sp>
      <p:sp>
        <p:nvSpPr>
          <p:cNvPr id="11" name="">
            <a:extLst xmlns:a="http://schemas.openxmlformats.org/drawingml/2006/main">
              <a:ext uri="{FF2B5EF4-FFF2-40B4-BE49-F238E27FC236}">
                <a16:creationId xmlns:a16="http://schemas.microsoft.com/office/drawing/2014/main" id="{0BF8066B-273A-47BC-9248-D8F3C4F97086}"/>
              </a:ext>
            </a:extLst>
          </p:cNvPr>
          <p:cNvSpPr>
            <a:spLocks xmlns:a="http://schemas.openxmlformats.org/drawingml/2006/main" noGrp="1"/>
          </p:cNvSpPr>
          <p:nvPr/>
        </p:nvSpPr>
        <p:spPr>
          <a:xfrm xmlns:a="http://schemas.openxmlformats.org/drawingml/2006/main">
            <a:off x="1181100" y="3752850"/>
            <a:ext cx="3667125"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53CD1B-8DF1-4D95-813E-4978D4D3CF0F}"/>
              </a:ext>
            </a:extLst>
          </p:cNvPr>
          <p:cNvSpPr>
            <a:spLocks xmlns:a="http://schemas.openxmlformats.org/drawingml/2006/main" noGrp="1"/>
          </p:cNvSpPr>
          <p:nvPr/>
        </p:nvSpPr>
        <p:spPr>
          <a:xfrm xmlns:a="http://schemas.openxmlformats.org/drawingml/2006/main">
            <a:off x="666750" y="3867150"/>
            <a:ext cx="43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C5533C"/>
                </a:solidFill>
                <a:latin typeface="Avenir Next"/>
                <a:ea typeface="Avenir Next"/>
                <a:cs typeface="Avenir Next"/>
              </a:defRPr>
            </a:pPr>
            <a:r>
              <a:rPr sz="1125" b="1">
                <a:solidFill>
                  <a:srgbClr val="C5533C"/>
                </a:solidFill>
                <a:latin typeface="Avenir Next"/>
                <a:ea typeface="Avenir Next"/>
                <a:cs typeface="Avenir Next"/>
              </a:rPr>
              <a:t>02</a:t>
            </a:r>
          </a:p>
        </p:txBody>
      </p:sp>
      <p:sp>
        <p:nvSpPr>
          <p:cNvPr id="13" name="">
            <a:extLst xmlns:a="http://schemas.openxmlformats.org/drawingml/2006/main">
              <a:ext uri="{FF2B5EF4-FFF2-40B4-BE49-F238E27FC236}">
                <a16:creationId xmlns:a16="http://schemas.microsoft.com/office/drawing/2014/main" id="{AB7F6644-2B6D-4583-9130-BEC200D5ED4F}"/>
              </a:ext>
            </a:extLst>
          </p:cNvPr>
          <p:cNvSpPr>
            <a:spLocks xmlns:a="http://schemas.openxmlformats.org/drawingml/2006/main" noGrp="1"/>
          </p:cNvSpPr>
          <p:nvPr/>
        </p:nvSpPr>
        <p:spPr>
          <a:xfrm xmlns:a="http://schemas.openxmlformats.org/drawingml/2006/main">
            <a:off x="1181100" y="38671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86"/>
          </a:bodyPr>
          <a:lstStyle xmlns:a="http://schemas.openxmlformats.org/drawingml/2006/main"/>
          <a:p xmlns:a="http://schemas.openxmlformats.org/drawingml/2006/main">
            <a:pPr algn="l">
              <a:defRPr sz="1350" b="1">
                <a:solidFill>
                  <a:srgbClr val="17241F"/>
                </a:solidFill>
                <a:latin typeface="Avenir Next"/>
                <a:ea typeface="Avenir Next"/>
                <a:cs typeface="Avenir Next"/>
              </a:defRPr>
            </a:pPr>
            <a:r>
              <a:rPr sz="1350" b="1">
                <a:solidFill>
                  <a:srgbClr val="17241F"/>
                </a:solidFill>
                <a:latin typeface="Avenir Next"/>
                <a:ea typeface="Avenir Next"/>
                <a:cs typeface="Avenir Next"/>
              </a:rPr>
              <a:t>Urgency is easy to miss</a:t>
            </a:r>
          </a:p>
        </p:txBody>
      </p:sp>
      <p:sp>
        <p:nvSpPr>
          <p:cNvPr id="14" name="">
            <a:extLst xmlns:a="http://schemas.openxmlformats.org/drawingml/2006/main">
              <a:ext uri="{FF2B5EF4-FFF2-40B4-BE49-F238E27FC236}">
                <a16:creationId xmlns:a16="http://schemas.microsoft.com/office/drawing/2014/main" id="{A17DEB5A-90E1-4C75-88E5-F03482C47F71}"/>
              </a:ext>
            </a:extLst>
          </p:cNvPr>
          <p:cNvSpPr>
            <a:spLocks xmlns:a="http://schemas.openxmlformats.org/drawingml/2006/main" noGrp="1"/>
          </p:cNvSpPr>
          <p:nvPr/>
        </p:nvSpPr>
        <p:spPr>
          <a:xfrm xmlns:a="http://schemas.openxmlformats.org/drawingml/2006/main">
            <a:off x="1181100" y="4152900"/>
            <a:ext cx="3714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96"/>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An unresolved claim or billing issue can be buried in a long history.</a:t>
            </a:r>
          </a:p>
        </p:txBody>
      </p:sp>
      <p:sp>
        <p:nvSpPr>
          <p:cNvPr id="15" name="">
            <a:extLst xmlns:a="http://schemas.openxmlformats.org/drawingml/2006/main">
              <a:ext uri="{FF2B5EF4-FFF2-40B4-BE49-F238E27FC236}">
                <a16:creationId xmlns:a16="http://schemas.microsoft.com/office/drawing/2014/main" id="{EAF04FB9-F19E-4A8B-B8BA-3C78298F8ECD}"/>
              </a:ext>
            </a:extLst>
          </p:cNvPr>
          <p:cNvSpPr>
            <a:spLocks xmlns:a="http://schemas.openxmlformats.org/drawingml/2006/main" noGrp="1"/>
          </p:cNvSpPr>
          <p:nvPr/>
        </p:nvSpPr>
        <p:spPr>
          <a:xfrm xmlns:a="http://schemas.openxmlformats.org/drawingml/2006/main">
            <a:off x="1181100" y="4619625"/>
            <a:ext cx="3667125"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97BD7CF-D54E-44E1-A818-322995FB3D0B}"/>
              </a:ext>
            </a:extLst>
          </p:cNvPr>
          <p:cNvSpPr>
            <a:spLocks xmlns:a="http://schemas.openxmlformats.org/drawingml/2006/main" noGrp="1"/>
          </p:cNvSpPr>
          <p:nvPr/>
        </p:nvSpPr>
        <p:spPr>
          <a:xfrm xmlns:a="http://schemas.openxmlformats.org/drawingml/2006/main">
            <a:off x="666750" y="4733925"/>
            <a:ext cx="43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C5533C"/>
                </a:solidFill>
                <a:latin typeface="Avenir Next"/>
                <a:ea typeface="Avenir Next"/>
                <a:cs typeface="Avenir Next"/>
              </a:defRPr>
            </a:pPr>
            <a:r>
              <a:rPr sz="1125" b="1">
                <a:solidFill>
                  <a:srgbClr val="C5533C"/>
                </a:solidFill>
                <a:latin typeface="Avenir Next"/>
                <a:ea typeface="Avenir Next"/>
                <a:cs typeface="Avenir Next"/>
              </a:rPr>
              <a:t>03</a:t>
            </a:r>
          </a:p>
        </p:txBody>
      </p:sp>
      <p:sp>
        <p:nvSpPr>
          <p:cNvPr id="17" name="">
            <a:extLst xmlns:a="http://schemas.openxmlformats.org/drawingml/2006/main">
              <a:ext uri="{FF2B5EF4-FFF2-40B4-BE49-F238E27FC236}">
                <a16:creationId xmlns:a16="http://schemas.microsoft.com/office/drawing/2014/main" id="{816D0DCC-DB74-4C02-BD96-7D2EF4EC58E1}"/>
              </a:ext>
            </a:extLst>
          </p:cNvPr>
          <p:cNvSpPr>
            <a:spLocks xmlns:a="http://schemas.openxmlformats.org/drawingml/2006/main" noGrp="1"/>
          </p:cNvSpPr>
          <p:nvPr/>
        </p:nvSpPr>
        <p:spPr>
          <a:xfrm xmlns:a="http://schemas.openxmlformats.org/drawingml/2006/main">
            <a:off x="1181100" y="47339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1">
                <a:solidFill>
                  <a:srgbClr val="17241F"/>
                </a:solidFill>
                <a:latin typeface="Avenir Next"/>
                <a:ea typeface="Avenir Next"/>
                <a:cs typeface="Avenir Next"/>
              </a:defRPr>
            </a:pPr>
            <a:r>
              <a:rPr sz="1350" b="1">
                <a:solidFill>
                  <a:srgbClr val="17241F"/>
                </a:solidFill>
                <a:latin typeface="Avenir Next"/>
                <a:ea typeface="Avenir Next"/>
                <a:cs typeface="Avenir Next"/>
              </a:rPr>
              <a:t>Actions vary by agent</a:t>
            </a:r>
          </a:p>
        </p:txBody>
      </p:sp>
      <p:sp>
        <p:nvSpPr>
          <p:cNvPr id="18" name="">
            <a:extLst xmlns:a="http://schemas.openxmlformats.org/drawingml/2006/main">
              <a:ext uri="{FF2B5EF4-FFF2-40B4-BE49-F238E27FC236}">
                <a16:creationId xmlns:a16="http://schemas.microsoft.com/office/drawing/2014/main" id="{E29419E9-D393-45DD-9C76-DDE0322DF0B8}"/>
              </a:ext>
            </a:extLst>
          </p:cNvPr>
          <p:cNvSpPr>
            <a:spLocks xmlns:a="http://schemas.openxmlformats.org/drawingml/2006/main" noGrp="1"/>
          </p:cNvSpPr>
          <p:nvPr/>
        </p:nvSpPr>
        <p:spPr>
          <a:xfrm xmlns:a="http://schemas.openxmlformats.org/drawingml/2006/main">
            <a:off x="1181100" y="5019675"/>
            <a:ext cx="3714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96"/>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Teams lack a shared reason, owner, and next-step playbook.</a:t>
            </a:r>
          </a:p>
        </p:txBody>
      </p:sp>
      <p:sp>
        <p:nvSpPr>
          <p:cNvPr id="19" name="">
            <a:extLst xmlns:a="http://schemas.openxmlformats.org/drawingml/2006/main">
              <a:ext uri="{FF2B5EF4-FFF2-40B4-BE49-F238E27FC236}">
                <a16:creationId xmlns:a16="http://schemas.microsoft.com/office/drawing/2014/main" id="{E5A83994-79C4-427E-98C8-9329E1BC1EEC}"/>
              </a:ext>
            </a:extLst>
          </p:cNvPr>
          <p:cNvSpPr>
            <a:spLocks xmlns:a="http://schemas.openxmlformats.org/drawingml/2006/main" noGrp="1"/>
          </p:cNvSpPr>
          <p:nvPr/>
        </p:nvSpPr>
        <p:spPr>
          <a:xfrm xmlns:a="http://schemas.openxmlformats.org/drawingml/2006/main">
            <a:off x="6096000" y="1600200"/>
            <a:ext cx="5429250" cy="4095750"/>
          </a:xfrm>
          <a:prstGeom xmlns:a="http://schemas.openxmlformats.org/drawingml/2006/main" prst="roundRect">
            <a:avLst>
              <a:gd name="adj" fmla="val 1860"/>
            </a:avLst>
          </a:prstGeom>
          <a:solidFill xmlns:a="http://schemas.openxmlformats.org/drawingml/2006/main">
            <a:srgbClr val="F5F8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1C79E8F-045E-4212-84EE-653275782A48}"/>
              </a:ext>
            </a:extLst>
          </p:cNvPr>
          <p:cNvSpPr>
            <a:spLocks xmlns:a="http://schemas.openxmlformats.org/drawingml/2006/main" noGrp="1"/>
          </p:cNvSpPr>
          <p:nvPr/>
        </p:nvSpPr>
        <p:spPr>
          <a:xfrm xmlns:a="http://schemas.openxmlformats.org/drawingml/2006/main">
            <a:off x="6438900" y="1885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619"/>
          </a:bodyPr>
          <a:lstStyle xmlns:a="http://schemas.openxmlformats.org/drawingml/2006/main"/>
          <a:p xmlns:a="http://schemas.openxmlformats.org/drawingml/2006/main">
            <a:pPr algn="l">
              <a:defRPr sz="1050" b="1">
                <a:solidFill>
                  <a:srgbClr val="137A63"/>
                </a:solidFill>
                <a:latin typeface="Avenir Next"/>
                <a:ea typeface="Avenir Next"/>
                <a:cs typeface="Avenir Next"/>
              </a:defRPr>
            </a:pPr>
            <a:r>
              <a:rPr sz="1050" b="1">
                <a:solidFill>
                  <a:srgbClr val="137A63"/>
                </a:solidFill>
                <a:latin typeface="Avenir Next"/>
                <a:ea typeface="Avenir Next"/>
                <a:cs typeface="Avenir Next"/>
              </a:rPr>
              <a:t>WHO NEEDS A BETTER HANDOFF</a:t>
            </a:r>
          </a:p>
        </p:txBody>
      </p:sp>
      <p:sp>
        <p:nvSpPr>
          <p:cNvPr id="21" name="">
            <a:extLst xmlns:a="http://schemas.openxmlformats.org/drawingml/2006/main">
              <a:ext uri="{FF2B5EF4-FFF2-40B4-BE49-F238E27FC236}">
                <a16:creationId xmlns:a16="http://schemas.microsoft.com/office/drawing/2014/main" id="{7FE55A14-3D6A-405A-8DE4-0222B0CEBDD2}"/>
              </a:ext>
            </a:extLst>
          </p:cNvPr>
          <p:cNvSpPr>
            <a:spLocks xmlns:a="http://schemas.openxmlformats.org/drawingml/2006/main" noGrp="1"/>
          </p:cNvSpPr>
          <p:nvPr/>
        </p:nvSpPr>
        <p:spPr>
          <a:xfrm xmlns:a="http://schemas.openxmlformats.org/drawingml/2006/main">
            <a:off x="6438900" y="2343150"/>
            <a:ext cx="4762500" cy="4191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E2DE"/>
            </a:solidFill>
            <a:prstDash val="solid"/>
          </a:ln>
        </p:spPr>
      </p:sp>
      <p:sp>
        <p:nvSpPr>
          <p:cNvPr id="22" name="">
            <a:extLst xmlns:a="http://schemas.openxmlformats.org/drawingml/2006/main">
              <a:ext uri="{FF2B5EF4-FFF2-40B4-BE49-F238E27FC236}">
                <a16:creationId xmlns:a16="http://schemas.microsoft.com/office/drawing/2014/main" id="{AC9A0C8F-A337-473D-A3AE-181D72D7B13F}"/>
              </a:ext>
            </a:extLst>
          </p:cNvPr>
          <p:cNvSpPr>
            <a:spLocks xmlns:a="http://schemas.openxmlformats.org/drawingml/2006/main" noGrp="1"/>
          </p:cNvSpPr>
          <p:nvPr/>
        </p:nvSpPr>
        <p:spPr>
          <a:xfrm xmlns:a="http://schemas.openxmlformats.org/drawingml/2006/main">
            <a:off x="6591300" y="2476500"/>
            <a:ext cx="114300" cy="114300"/>
          </a:xfrm>
          <a:prstGeom xmlns:a="http://schemas.openxmlformats.org/drawingml/2006/main" prst="ellipse">
            <a:avLst/>
          </a:prstGeom>
          <a:solidFill xmlns:a="http://schemas.openxmlformats.org/drawingml/2006/main">
            <a:srgbClr val="C5533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5B60948-EEF1-4D7B-B66A-52871C937345}"/>
              </a:ext>
            </a:extLst>
          </p:cNvPr>
          <p:cNvSpPr>
            <a:spLocks xmlns:a="http://schemas.openxmlformats.org/drawingml/2006/main" noGrp="1"/>
          </p:cNvSpPr>
          <p:nvPr/>
        </p:nvSpPr>
        <p:spPr>
          <a:xfrm xmlns:a="http://schemas.openxmlformats.org/drawingml/2006/main">
            <a:off x="6838950" y="24003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17241F"/>
                </a:solidFill>
                <a:latin typeface="Avenir Next"/>
                <a:ea typeface="Avenir Next"/>
                <a:cs typeface="Avenir Next"/>
              </a:defRPr>
            </a:pPr>
            <a:r>
              <a:rPr sz="1275" b="1">
                <a:solidFill>
                  <a:srgbClr val="17241F"/>
                </a:solidFill>
                <a:latin typeface="Avenir Next"/>
                <a:ea typeface="Avenir Next"/>
                <a:cs typeface="Avenir Next"/>
              </a:rPr>
              <a:t>Claims operations lead</a:t>
            </a:r>
          </a:p>
        </p:txBody>
      </p:sp>
      <p:sp>
        <p:nvSpPr>
          <p:cNvPr id="24" name="">
            <a:extLst xmlns:a="http://schemas.openxmlformats.org/drawingml/2006/main">
              <a:ext uri="{FF2B5EF4-FFF2-40B4-BE49-F238E27FC236}">
                <a16:creationId xmlns:a16="http://schemas.microsoft.com/office/drawing/2014/main" id="{D1608811-1B5C-4A97-B54C-9295038C7E93}"/>
              </a:ext>
            </a:extLst>
          </p:cNvPr>
          <p:cNvSpPr>
            <a:spLocks xmlns:a="http://schemas.openxmlformats.org/drawingml/2006/main" noGrp="1"/>
          </p:cNvSpPr>
          <p:nvPr/>
        </p:nvSpPr>
        <p:spPr>
          <a:xfrm xmlns:a="http://schemas.openxmlformats.org/drawingml/2006/main">
            <a:off x="6438900" y="2914650"/>
            <a:ext cx="4762500" cy="4191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E2DE"/>
            </a:solidFill>
            <a:prstDash val="solid"/>
          </a:ln>
        </p:spPr>
      </p:sp>
      <p:sp>
        <p:nvSpPr>
          <p:cNvPr id="25" name="">
            <a:extLst xmlns:a="http://schemas.openxmlformats.org/drawingml/2006/main">
              <a:ext uri="{FF2B5EF4-FFF2-40B4-BE49-F238E27FC236}">
                <a16:creationId xmlns:a16="http://schemas.microsoft.com/office/drawing/2014/main" id="{1432DE01-1E3D-4708-B997-BB57DD815F0B}"/>
              </a:ext>
            </a:extLst>
          </p:cNvPr>
          <p:cNvSpPr>
            <a:spLocks xmlns:a="http://schemas.openxmlformats.org/drawingml/2006/main" noGrp="1"/>
          </p:cNvSpPr>
          <p:nvPr/>
        </p:nvSpPr>
        <p:spPr>
          <a:xfrm xmlns:a="http://schemas.openxmlformats.org/drawingml/2006/main">
            <a:off x="6591300" y="3048000"/>
            <a:ext cx="114300" cy="114300"/>
          </a:xfrm>
          <a:prstGeom xmlns:a="http://schemas.openxmlformats.org/drawingml/2006/main" prst="ellipse">
            <a:avLst/>
          </a:prstGeom>
          <a:solidFill xmlns:a="http://schemas.openxmlformats.org/drawingml/2006/main">
            <a:srgbClr val="316C9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4EAD1AD-7724-4C76-808D-212807482610}"/>
              </a:ext>
            </a:extLst>
          </p:cNvPr>
          <p:cNvSpPr>
            <a:spLocks xmlns:a="http://schemas.openxmlformats.org/drawingml/2006/main" noGrp="1"/>
          </p:cNvSpPr>
          <p:nvPr/>
        </p:nvSpPr>
        <p:spPr>
          <a:xfrm xmlns:a="http://schemas.openxmlformats.org/drawingml/2006/main">
            <a:off x="6838950" y="2971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17241F"/>
                </a:solidFill>
                <a:latin typeface="Avenir Next"/>
                <a:ea typeface="Avenir Next"/>
                <a:cs typeface="Avenir Next"/>
              </a:defRPr>
            </a:pPr>
            <a:r>
              <a:rPr sz="1275" b="1">
                <a:solidFill>
                  <a:srgbClr val="17241F"/>
                </a:solidFill>
                <a:latin typeface="Avenir Next"/>
                <a:ea typeface="Avenir Next"/>
                <a:cs typeface="Avenir Next"/>
              </a:rPr>
              <a:t>Support specialist</a:t>
            </a:r>
          </a:p>
        </p:txBody>
      </p:sp>
      <p:sp>
        <p:nvSpPr>
          <p:cNvPr id="27" name="">
            <a:extLst xmlns:a="http://schemas.openxmlformats.org/drawingml/2006/main">
              <a:ext uri="{FF2B5EF4-FFF2-40B4-BE49-F238E27FC236}">
                <a16:creationId xmlns:a16="http://schemas.microsoft.com/office/drawing/2014/main" id="{1F75E9C4-5E0C-43FB-9DFF-AE958418C735}"/>
              </a:ext>
            </a:extLst>
          </p:cNvPr>
          <p:cNvSpPr>
            <a:spLocks xmlns:a="http://schemas.openxmlformats.org/drawingml/2006/main" noGrp="1"/>
          </p:cNvSpPr>
          <p:nvPr/>
        </p:nvSpPr>
        <p:spPr>
          <a:xfrm xmlns:a="http://schemas.openxmlformats.org/drawingml/2006/main">
            <a:off x="6438900" y="3486150"/>
            <a:ext cx="4762500" cy="4191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E2DE"/>
            </a:solidFill>
            <a:prstDash val="solid"/>
          </a:ln>
        </p:spPr>
      </p:sp>
      <p:sp>
        <p:nvSpPr>
          <p:cNvPr id="28" name="">
            <a:extLst xmlns:a="http://schemas.openxmlformats.org/drawingml/2006/main">
              <a:ext uri="{FF2B5EF4-FFF2-40B4-BE49-F238E27FC236}">
                <a16:creationId xmlns:a16="http://schemas.microsoft.com/office/drawing/2014/main" id="{CCEF1BB9-2FE0-4C49-937C-67C543C20BEE}"/>
              </a:ext>
            </a:extLst>
          </p:cNvPr>
          <p:cNvSpPr>
            <a:spLocks xmlns:a="http://schemas.openxmlformats.org/drawingml/2006/main" noGrp="1"/>
          </p:cNvSpPr>
          <p:nvPr/>
        </p:nvSpPr>
        <p:spPr>
          <a:xfrm xmlns:a="http://schemas.openxmlformats.org/drawingml/2006/main">
            <a:off x="6591300" y="3619500"/>
            <a:ext cx="114300" cy="114300"/>
          </a:xfrm>
          <a:prstGeom xmlns:a="http://schemas.openxmlformats.org/drawingml/2006/main" prst="ellipse">
            <a:avLst/>
          </a:prstGeom>
          <a:solidFill xmlns:a="http://schemas.openxmlformats.org/drawingml/2006/main">
            <a:srgbClr val="137A6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4264DB3-2806-4CE8-A945-ABB3C2A66208}"/>
              </a:ext>
            </a:extLst>
          </p:cNvPr>
          <p:cNvSpPr>
            <a:spLocks xmlns:a="http://schemas.openxmlformats.org/drawingml/2006/main" noGrp="1"/>
          </p:cNvSpPr>
          <p:nvPr/>
        </p:nvSpPr>
        <p:spPr>
          <a:xfrm xmlns:a="http://schemas.openxmlformats.org/drawingml/2006/main">
            <a:off x="6838950" y="35433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17241F"/>
                </a:solidFill>
                <a:latin typeface="Avenir Next"/>
                <a:ea typeface="Avenir Next"/>
                <a:cs typeface="Avenir Next"/>
              </a:defRPr>
            </a:pPr>
            <a:r>
              <a:rPr sz="1275" b="1">
                <a:solidFill>
                  <a:srgbClr val="17241F"/>
                </a:solidFill>
                <a:latin typeface="Avenir Next"/>
                <a:ea typeface="Avenir Next"/>
                <a:cs typeface="Avenir Next"/>
              </a:rPr>
              <a:t>Relationship manager</a:t>
            </a:r>
          </a:p>
        </p:txBody>
      </p:sp>
      <p:sp>
        <p:nvSpPr>
          <p:cNvPr id="30" name="">
            <a:extLst xmlns:a="http://schemas.openxmlformats.org/drawingml/2006/main">
              <a:ext uri="{FF2B5EF4-FFF2-40B4-BE49-F238E27FC236}">
                <a16:creationId xmlns:a16="http://schemas.microsoft.com/office/drawing/2014/main" id="{A9B3C420-7ADE-4C6C-8C0E-1207EBE40445}"/>
              </a:ext>
            </a:extLst>
          </p:cNvPr>
          <p:cNvSpPr>
            <a:spLocks xmlns:a="http://schemas.openxmlformats.org/drawingml/2006/main" noGrp="1"/>
          </p:cNvSpPr>
          <p:nvPr/>
        </p:nvSpPr>
        <p:spPr>
          <a:xfrm xmlns:a="http://schemas.openxmlformats.org/drawingml/2006/main">
            <a:off x="6438900" y="4267200"/>
            <a:ext cx="4762500"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21A73D1-7046-487F-B3F0-BF4A24296E0A}"/>
              </a:ext>
            </a:extLst>
          </p:cNvPr>
          <p:cNvSpPr>
            <a:spLocks xmlns:a="http://schemas.openxmlformats.org/drawingml/2006/main" noGrp="1"/>
          </p:cNvSpPr>
          <p:nvPr/>
        </p:nvSpPr>
        <p:spPr>
          <a:xfrm xmlns:a="http://schemas.openxmlformats.org/drawingml/2006/main">
            <a:off x="6438900" y="45148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79847E"/>
                </a:solidFill>
                <a:latin typeface="Avenir Next"/>
                <a:ea typeface="Avenir Next"/>
                <a:cs typeface="Avenir Next"/>
              </a:defRPr>
            </a:pPr>
            <a:r>
              <a:rPr sz="975" b="1">
                <a:solidFill>
                  <a:srgbClr val="79847E"/>
                </a:solidFill>
                <a:latin typeface="Avenir Next"/>
                <a:ea typeface="Avenir Next"/>
                <a:cs typeface="Avenir Next"/>
              </a:rPr>
              <a:t>INDUSTRY CONTEXT</a:t>
            </a:r>
          </a:p>
        </p:txBody>
      </p:sp>
      <p:sp>
        <p:nvSpPr>
          <p:cNvPr id="32" name="">
            <a:extLst xmlns:a="http://schemas.openxmlformats.org/drawingml/2006/main">
              <a:ext uri="{FF2B5EF4-FFF2-40B4-BE49-F238E27FC236}">
                <a16:creationId xmlns:a16="http://schemas.microsoft.com/office/drawing/2014/main" id="{41E566E8-6B1D-4CEA-9BBF-85B60A6C411E}"/>
              </a:ext>
            </a:extLst>
          </p:cNvPr>
          <p:cNvSpPr>
            <a:spLocks xmlns:a="http://schemas.openxmlformats.org/drawingml/2006/main" noGrp="1"/>
          </p:cNvSpPr>
          <p:nvPr/>
        </p:nvSpPr>
        <p:spPr>
          <a:xfrm xmlns:a="http://schemas.openxmlformats.org/drawingml/2006/main">
            <a:off x="6438900" y="4829175"/>
            <a:ext cx="4572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17241F"/>
                </a:solidFill>
                <a:latin typeface="Avenir Next"/>
                <a:ea typeface="Avenir Next"/>
                <a:cs typeface="Avenir Next"/>
              </a:defRPr>
            </a:pPr>
            <a:r>
              <a:rPr sz="1275" b="0">
                <a:solidFill>
                  <a:srgbClr val="17241F"/>
                </a:solidFill>
                <a:latin typeface="Avenir Next"/>
                <a:ea typeface="Avenir Next"/>
                <a:cs typeface="Avenir Next"/>
              </a:rPr>
              <a:t>Insurance · Lending · Banking</a:t>
            </a:r>
          </a:p>
          <a:p xmlns:a="http://schemas.openxmlformats.org/drawingml/2006/main">
            <a:pPr algn="l">
              <a:defRPr sz="1275" b="0">
                <a:solidFill>
                  <a:srgbClr val="17241F"/>
                </a:solidFill>
                <a:latin typeface="Avenir Next"/>
                <a:ea typeface="Avenir Next"/>
                <a:cs typeface="Avenir Next"/>
              </a:defRPr>
            </a:pPr>
            <a:r>
              <a:rPr sz="1275" b="0">
                <a:solidFill>
                  <a:srgbClr val="17241F"/>
                </a:solidFill>
                <a:latin typeface="Avenir Next"/>
                <a:ea typeface="Avenir Next"/>
                <a:cs typeface="Avenir Next"/>
              </a:rPr>
              <a:t>Claims, billing, renewals, and service operations</a:t>
            </a:r>
          </a:p>
        </p:txBody>
      </p:sp>
    </p:spTree>
    <p:extLst>
      <p:ext uri="{BB962C8B-B14F-4D97-AF65-F5344CB8AC3E}">
        <p14:creationId xmlns:p14="http://schemas.microsoft.com/office/powerpoint/2010/main" val="8489917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0D95C60-7BCA-4A6A-A9EB-FD419D974F7A}"/>
              </a:ext>
            </a:extLst>
          </p:cNvPr>
          <p:cNvSpPr>
            <a:spLocks xmlns:a="http://schemas.openxmlformats.org/drawingml/2006/main" noGrp="1"/>
          </p:cNvSpPr>
          <p:nvPr/>
        </p:nvSpPr>
        <p:spPr>
          <a:xfrm xmlns:a="http://schemas.openxmlformats.org/drawingml/2006/main">
            <a:off x="64770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137A63"/>
                </a:solidFill>
                <a:latin typeface="Avenir Next"/>
                <a:ea typeface="Avenir Next"/>
                <a:cs typeface="Avenir Next"/>
              </a:defRPr>
            </a:pPr>
            <a:r>
              <a:rPr sz="975" b="1">
                <a:solidFill>
                  <a:srgbClr val="137A63"/>
                </a:solidFill>
                <a:latin typeface="Avenir Next"/>
                <a:ea typeface="Avenir Next"/>
                <a:cs typeface="Avenir Next"/>
              </a:rPr>
              <a:t>COCO CLI HACKATHON · GCC EDITION</a:t>
            </a:r>
          </a:p>
        </p:txBody>
      </p:sp>
      <p:sp>
        <p:nvSpPr>
          <p:cNvPr id="2" name="">
            <a:extLst xmlns:a="http://schemas.openxmlformats.org/drawingml/2006/main">
              <a:ext uri="{FF2B5EF4-FFF2-40B4-BE49-F238E27FC236}">
                <a16:creationId xmlns:a16="http://schemas.microsoft.com/office/drawing/2014/main" id="{004B1610-257B-44E9-902B-416C10FDF202}"/>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41F"/>
                </a:solidFill>
                <a:latin typeface="Avenir Next"/>
                <a:ea typeface="Avenir Next"/>
                <a:cs typeface="Avenir Next"/>
              </a:defRPr>
            </a:pPr>
            <a:r>
              <a:rPr sz="2550" b="1">
                <a:solidFill>
                  <a:srgbClr val="17241F"/>
                </a:solidFill>
                <a:latin typeface="Avenir Next"/>
                <a:ea typeface="Avenir Next"/>
                <a:cs typeface="Avenir Next"/>
              </a:rPr>
              <a:t>Architecture: one verified warehouse view, one local app</a:t>
            </a:r>
          </a:p>
        </p:txBody>
      </p:sp>
      <p:sp>
        <p:nvSpPr>
          <p:cNvPr id="3" name="">
            <a:extLst xmlns:a="http://schemas.openxmlformats.org/drawingml/2006/main">
              <a:ext uri="{FF2B5EF4-FFF2-40B4-BE49-F238E27FC236}">
                <a16:creationId xmlns:a16="http://schemas.microsoft.com/office/drawing/2014/main" id="{A1D96554-46C0-4C36-97B3-81762ED5B88C}"/>
              </a:ext>
            </a:extLst>
          </p:cNvPr>
          <p:cNvSpPr>
            <a:spLocks xmlns:a="http://schemas.openxmlformats.org/drawingml/2006/main" noGrp="1"/>
          </p:cNvSpPr>
          <p:nvPr/>
        </p:nvSpPr>
        <p:spPr>
          <a:xfrm xmlns:a="http://schemas.openxmlformats.org/drawingml/2006/main">
            <a:off x="647700" y="1323975"/>
            <a:ext cx="10896600"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19A71C-29B0-4374-B0A8-3DA90427CB69}"/>
              </a:ext>
            </a:extLst>
          </p:cNvPr>
          <p:cNvSpPr>
            <a:spLocks xmlns:a="http://schemas.openxmlformats.org/drawingml/2006/main" noGrp="1"/>
          </p:cNvSpPr>
          <p:nvPr/>
        </p:nvSpPr>
        <p:spPr>
          <a:xfrm xmlns:a="http://schemas.openxmlformats.org/drawingml/2006/main">
            <a:off x="647700" y="6438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2222"/>
          </a:bodyPr>
          <a:lstStyle xmlns:a="http://schemas.openxmlformats.org/drawingml/2006/main"/>
          <a:p xmlns:a="http://schemas.openxmlformats.org/drawingml/2006/main">
            <a:pPr algn="l">
              <a:defRPr sz="900" b="0">
                <a:solidFill>
                  <a:srgbClr val="79847E"/>
                </a:solidFill>
                <a:latin typeface="Avenir Next"/>
                <a:ea typeface="Avenir Next"/>
                <a:cs typeface="Avenir Next"/>
              </a:defRPr>
            </a:pPr>
            <a:r>
              <a:rPr sz="900" b="0">
                <a:solidFill>
                  <a:srgbClr val="79847E"/>
                </a:solidFill>
                <a:latin typeface="Avenir Next"/>
                <a:ea typeface="Avenir Next"/>
                <a:cs typeface="Avenir Next"/>
              </a:rPr>
              <a:t>Synthetic demonstration · Rules-based service triage · No measured business impact</a:t>
            </a:r>
          </a:p>
        </p:txBody>
      </p:sp>
      <p:sp>
        <p:nvSpPr>
          <p:cNvPr id="5" name="">
            <a:extLst xmlns:a="http://schemas.openxmlformats.org/drawingml/2006/main">
              <a:ext uri="{FF2B5EF4-FFF2-40B4-BE49-F238E27FC236}">
                <a16:creationId xmlns:a16="http://schemas.microsoft.com/office/drawing/2014/main" id="{DC161054-EDF2-4EF6-B22E-37AE7FB6435A}"/>
              </a:ext>
            </a:extLst>
          </p:cNvPr>
          <p:cNvSpPr>
            <a:spLocks xmlns:a="http://schemas.openxmlformats.org/drawingml/2006/main" noGrp="1"/>
          </p:cNvSpPr>
          <p:nvPr/>
        </p:nvSpPr>
        <p:spPr>
          <a:xfrm xmlns:a="http://schemas.openxmlformats.org/drawingml/2006/main">
            <a:off x="10858500" y="6419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137A63"/>
                </a:solidFill>
                <a:latin typeface="Avenir Next"/>
                <a:ea typeface="Avenir Next"/>
                <a:cs typeface="Avenir Next"/>
              </a:defRPr>
            </a:pPr>
            <a:r>
              <a:rPr sz="975" b="1">
                <a:solidFill>
                  <a:srgbClr val="137A63"/>
                </a:solidFill>
                <a:latin typeface="Avenir Next"/>
                <a:ea typeface="Avenir Next"/>
                <a:cs typeface="Avenir Next"/>
              </a:rPr>
              <a:t>03</a:t>
            </a:r>
          </a:p>
        </p:txBody>
      </p:sp>
      <p:sp>
        <p:nvSpPr>
          <p:cNvPr id="6" name="">
            <a:extLst xmlns:a="http://schemas.openxmlformats.org/drawingml/2006/main">
              <a:ext uri="{FF2B5EF4-FFF2-40B4-BE49-F238E27FC236}">
                <a16:creationId xmlns:a16="http://schemas.microsoft.com/office/drawing/2014/main" id="{E0F95B6C-9287-4EF8-949C-FB8476B4E540}"/>
              </a:ext>
            </a:extLst>
          </p:cNvPr>
          <p:cNvSpPr>
            <a:spLocks xmlns:a="http://schemas.openxmlformats.org/drawingml/2006/main" noGrp="1"/>
          </p:cNvSpPr>
          <p:nvPr/>
        </p:nvSpPr>
        <p:spPr>
          <a:xfrm xmlns:a="http://schemas.openxmlformats.org/drawingml/2006/main">
            <a:off x="647700" y="15430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defRPr sz="1050" b="1">
                <a:solidFill>
                  <a:srgbClr val="137A63"/>
                </a:solidFill>
                <a:latin typeface="Avenir Next"/>
                <a:ea typeface="Avenir Next"/>
                <a:cs typeface="Avenir Next"/>
              </a:defRPr>
            </a:pPr>
            <a:r>
              <a:rPr sz="1050" b="1">
                <a:solidFill>
                  <a:srgbClr val="137A63"/>
                </a:solidFill>
                <a:latin typeface="Avenir Next"/>
                <a:ea typeface="Avenir Next"/>
                <a:cs typeface="Avenir Next"/>
              </a:rPr>
              <a:t>VERIFIED SNOWFLAKE DATA PATH</a:t>
            </a:r>
          </a:p>
        </p:txBody>
      </p:sp>
      <p:sp>
        <p:nvSpPr>
          <p:cNvPr id="7" name="">
            <a:extLst xmlns:a="http://schemas.openxmlformats.org/drawingml/2006/main">
              <a:ext uri="{FF2B5EF4-FFF2-40B4-BE49-F238E27FC236}">
                <a16:creationId xmlns:a16="http://schemas.microsoft.com/office/drawing/2014/main" id="{2F15A0C3-D10D-4E5B-AC78-74629B9AB332}"/>
              </a:ext>
            </a:extLst>
          </p:cNvPr>
          <p:cNvSpPr>
            <a:spLocks xmlns:a="http://schemas.openxmlformats.org/drawingml/2006/main" noGrp="1"/>
          </p:cNvSpPr>
          <p:nvPr/>
        </p:nvSpPr>
        <p:spPr>
          <a:xfrm xmlns:a="http://schemas.openxmlformats.org/drawingml/2006/main">
            <a:off x="647700" y="1981200"/>
            <a:ext cx="3105150" cy="1428750"/>
          </a:xfrm>
          <a:prstGeom xmlns:a="http://schemas.openxmlformats.org/drawingml/2006/main" prst="roundRect">
            <a:avLst>
              <a:gd name="adj" fmla="val 4667"/>
            </a:avLst>
          </a:prstGeom>
          <a:solidFill xmlns:a="http://schemas.openxmlformats.org/drawingml/2006/main">
            <a:srgbClr val="E7F4E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AD6DB39-960E-4B65-A0EB-8045454E600D}"/>
              </a:ext>
            </a:extLst>
          </p:cNvPr>
          <p:cNvSpPr>
            <a:spLocks xmlns:a="http://schemas.openxmlformats.org/drawingml/2006/main" noGrp="1"/>
          </p:cNvSpPr>
          <p:nvPr/>
        </p:nvSpPr>
        <p:spPr>
          <a:xfrm xmlns:a="http://schemas.openxmlformats.org/drawingml/2006/main">
            <a:off x="838200" y="2171700"/>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1">
                <a:solidFill>
                  <a:srgbClr val="17241F"/>
                </a:solidFill>
                <a:latin typeface="Avenir Next"/>
                <a:ea typeface="Avenir Next"/>
                <a:cs typeface="Avenir Next"/>
              </a:defRPr>
            </a:pPr>
            <a:r>
              <a:rPr sz="1350" b="1">
                <a:solidFill>
                  <a:srgbClr val="17241F"/>
                </a:solidFill>
                <a:latin typeface="Avenir Next"/>
                <a:ea typeface="Avenir Next"/>
                <a:cs typeface="Avenir Next"/>
              </a:rPr>
              <a:t>Synthetic seed SQL</a:t>
            </a:r>
          </a:p>
        </p:txBody>
      </p:sp>
      <p:sp>
        <p:nvSpPr>
          <p:cNvPr id="9" name="">
            <a:extLst xmlns:a="http://schemas.openxmlformats.org/drawingml/2006/main">
              <a:ext uri="{FF2B5EF4-FFF2-40B4-BE49-F238E27FC236}">
                <a16:creationId xmlns:a16="http://schemas.microsoft.com/office/drawing/2014/main" id="{0F61DBCA-0072-44B7-87C4-707444458DFD}"/>
              </a:ext>
            </a:extLst>
          </p:cNvPr>
          <p:cNvSpPr>
            <a:spLocks xmlns:a="http://schemas.openxmlformats.org/drawingml/2006/main" noGrp="1"/>
          </p:cNvSpPr>
          <p:nvPr/>
        </p:nvSpPr>
        <p:spPr>
          <a:xfrm xmlns:a="http://schemas.openxmlformats.org/drawingml/2006/main">
            <a:off x="838200" y="2571750"/>
            <a:ext cx="2714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10 customers</a:t>
            </a:r>
          </a:p>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12 accounts</a:t>
            </a:r>
          </a:p>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11 interactions</a:t>
            </a:r>
          </a:p>
        </p:txBody>
      </p:sp>
      <p:sp>
        <p:nvSpPr>
          <p:cNvPr id="10" name="">
            <a:extLst xmlns:a="http://schemas.openxmlformats.org/drawingml/2006/main">
              <a:ext uri="{FF2B5EF4-FFF2-40B4-BE49-F238E27FC236}">
                <a16:creationId xmlns:a16="http://schemas.microsoft.com/office/drawing/2014/main" id="{ACBA9C81-20FC-424C-9EA5-5E62986525FF}"/>
              </a:ext>
            </a:extLst>
          </p:cNvPr>
          <p:cNvSpPr>
            <a:spLocks xmlns:a="http://schemas.openxmlformats.org/drawingml/2006/main" noGrp="1"/>
          </p:cNvSpPr>
          <p:nvPr/>
        </p:nvSpPr>
        <p:spPr>
          <a:xfrm xmlns:a="http://schemas.openxmlformats.org/drawingml/2006/main">
            <a:off x="3857625" y="2581275"/>
            <a:ext cx="314325" cy="190500"/>
          </a:xfrm>
          <a:prstGeom xmlns:a="http://schemas.openxmlformats.org/drawingml/2006/main" prst="rightArrow">
            <a:avLst/>
          </a:prstGeom>
          <a:solidFill xmlns:a="http://schemas.openxmlformats.org/drawingml/2006/main">
            <a:srgbClr val="137A6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80C5696-7783-48C8-8717-021AB6D890E4}"/>
              </a:ext>
            </a:extLst>
          </p:cNvPr>
          <p:cNvSpPr>
            <a:spLocks xmlns:a="http://schemas.openxmlformats.org/drawingml/2006/main" noGrp="1"/>
          </p:cNvSpPr>
          <p:nvPr/>
        </p:nvSpPr>
        <p:spPr>
          <a:xfrm xmlns:a="http://schemas.openxmlformats.org/drawingml/2006/main">
            <a:off x="4305300" y="1981200"/>
            <a:ext cx="3105150" cy="1428750"/>
          </a:xfrm>
          <a:prstGeom xmlns:a="http://schemas.openxmlformats.org/drawingml/2006/main" prst="roundRect">
            <a:avLst>
              <a:gd name="adj" fmla="val 4667"/>
            </a:avLst>
          </a:prstGeom>
          <a:solidFill xmlns:a="http://schemas.openxmlformats.org/drawingml/2006/main">
            <a:srgbClr val="EAF2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C2A70D4-58AA-4EBC-8707-F95B5F68869A}"/>
              </a:ext>
            </a:extLst>
          </p:cNvPr>
          <p:cNvSpPr>
            <a:spLocks xmlns:a="http://schemas.openxmlformats.org/drawingml/2006/main" noGrp="1"/>
          </p:cNvSpPr>
          <p:nvPr/>
        </p:nvSpPr>
        <p:spPr>
          <a:xfrm xmlns:a="http://schemas.openxmlformats.org/drawingml/2006/main">
            <a:off x="4495800" y="2171700"/>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1">
                <a:solidFill>
                  <a:srgbClr val="17241F"/>
                </a:solidFill>
                <a:latin typeface="Avenir Next"/>
                <a:ea typeface="Avenir Next"/>
                <a:cs typeface="Avenir Next"/>
              </a:defRPr>
            </a:pPr>
            <a:r>
              <a:rPr sz="1350" b="1">
                <a:solidFill>
                  <a:srgbClr val="17241F"/>
                </a:solidFill>
                <a:latin typeface="Avenir Next"/>
                <a:ea typeface="Avenir Next"/>
                <a:cs typeface="Avenir Next"/>
              </a:rPr>
              <a:t>Snowflake tables</a:t>
            </a:r>
          </a:p>
        </p:txBody>
      </p:sp>
      <p:sp>
        <p:nvSpPr>
          <p:cNvPr id="13" name="">
            <a:extLst xmlns:a="http://schemas.openxmlformats.org/drawingml/2006/main">
              <a:ext uri="{FF2B5EF4-FFF2-40B4-BE49-F238E27FC236}">
                <a16:creationId xmlns:a16="http://schemas.microsoft.com/office/drawing/2014/main" id="{C70B9171-C4DC-4386-BB87-23502924CFD0}"/>
              </a:ext>
            </a:extLst>
          </p:cNvPr>
          <p:cNvSpPr>
            <a:spLocks xmlns:a="http://schemas.openxmlformats.org/drawingml/2006/main" noGrp="1"/>
          </p:cNvSpPr>
          <p:nvPr/>
        </p:nvSpPr>
        <p:spPr>
          <a:xfrm xmlns:a="http://schemas.openxmlformats.org/drawingml/2006/main">
            <a:off x="4495800" y="2571750"/>
            <a:ext cx="2714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CUSTOMER360_HACKATHON</a:t>
            </a:r>
          </a:p>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Schema APP</a:t>
            </a:r>
          </a:p>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X-Small warehouse</a:t>
            </a:r>
          </a:p>
        </p:txBody>
      </p:sp>
      <p:sp>
        <p:nvSpPr>
          <p:cNvPr id="14" name="">
            <a:extLst xmlns:a="http://schemas.openxmlformats.org/drawingml/2006/main">
              <a:ext uri="{FF2B5EF4-FFF2-40B4-BE49-F238E27FC236}">
                <a16:creationId xmlns:a16="http://schemas.microsoft.com/office/drawing/2014/main" id="{1AAB1EA7-1FFE-4039-BC2B-4B9995DF077F}"/>
              </a:ext>
            </a:extLst>
          </p:cNvPr>
          <p:cNvSpPr>
            <a:spLocks xmlns:a="http://schemas.openxmlformats.org/drawingml/2006/main" noGrp="1"/>
          </p:cNvSpPr>
          <p:nvPr/>
        </p:nvSpPr>
        <p:spPr>
          <a:xfrm xmlns:a="http://schemas.openxmlformats.org/drawingml/2006/main">
            <a:off x="7515225" y="2581275"/>
            <a:ext cx="314325" cy="190500"/>
          </a:xfrm>
          <a:prstGeom xmlns:a="http://schemas.openxmlformats.org/drawingml/2006/main" prst="rightArrow">
            <a:avLst/>
          </a:prstGeom>
          <a:solidFill xmlns:a="http://schemas.openxmlformats.org/drawingml/2006/main">
            <a:srgbClr val="137A6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647180C-F2CD-4796-A4F1-10F5B8913EBF}"/>
              </a:ext>
            </a:extLst>
          </p:cNvPr>
          <p:cNvSpPr>
            <a:spLocks xmlns:a="http://schemas.openxmlformats.org/drawingml/2006/main" noGrp="1"/>
          </p:cNvSpPr>
          <p:nvPr/>
        </p:nvSpPr>
        <p:spPr>
          <a:xfrm xmlns:a="http://schemas.openxmlformats.org/drawingml/2006/main">
            <a:off x="7962900" y="1981200"/>
            <a:ext cx="3105150" cy="1428750"/>
          </a:xfrm>
          <a:prstGeom xmlns:a="http://schemas.openxmlformats.org/drawingml/2006/main" prst="roundRect">
            <a:avLst>
              <a:gd name="adj" fmla="val 4667"/>
            </a:avLst>
          </a:prstGeom>
          <a:solidFill xmlns:a="http://schemas.openxmlformats.org/drawingml/2006/main">
            <a:srgbClr val="FAEEE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FBFCB67-A709-4DDF-BB3A-298C3CA0BD8F}"/>
              </a:ext>
            </a:extLst>
          </p:cNvPr>
          <p:cNvSpPr>
            <a:spLocks xmlns:a="http://schemas.openxmlformats.org/drawingml/2006/main" noGrp="1"/>
          </p:cNvSpPr>
          <p:nvPr/>
        </p:nvSpPr>
        <p:spPr>
          <a:xfrm xmlns:a="http://schemas.openxmlformats.org/drawingml/2006/main">
            <a:off x="8153400" y="2171700"/>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1">
                <a:solidFill>
                  <a:srgbClr val="17241F"/>
                </a:solidFill>
                <a:latin typeface="Avenir Next"/>
                <a:ea typeface="Avenir Next"/>
                <a:cs typeface="Avenir Next"/>
              </a:defRPr>
            </a:pPr>
            <a:r>
              <a:rPr sz="1350" b="1">
                <a:solidFill>
                  <a:srgbClr val="17241F"/>
                </a:solidFill>
                <a:latin typeface="Avenir Next"/>
                <a:ea typeface="Avenir Next"/>
                <a:cs typeface="Avenir Next"/>
              </a:rPr>
              <a:t>CUSTOMER_360 view</a:t>
            </a:r>
          </a:p>
        </p:txBody>
      </p:sp>
      <p:sp>
        <p:nvSpPr>
          <p:cNvPr id="17" name="">
            <a:extLst xmlns:a="http://schemas.openxmlformats.org/drawingml/2006/main">
              <a:ext uri="{FF2B5EF4-FFF2-40B4-BE49-F238E27FC236}">
                <a16:creationId xmlns:a16="http://schemas.microsoft.com/office/drawing/2014/main" id="{47280F9A-B757-4D37-9286-88BB47E80E19}"/>
              </a:ext>
            </a:extLst>
          </p:cNvPr>
          <p:cNvSpPr>
            <a:spLocks xmlns:a="http://schemas.openxmlformats.org/drawingml/2006/main" noGrp="1"/>
          </p:cNvSpPr>
          <p:nvPr/>
        </p:nvSpPr>
        <p:spPr>
          <a:xfrm xmlns:a="http://schemas.openxmlformats.org/drawingml/2006/main">
            <a:off x="8153400" y="2571750"/>
            <a:ext cx="2714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10 customer rows</a:t>
            </a:r>
          </a:p>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Account + case rollups</a:t>
            </a:r>
          </a:p>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Quality checks passed</a:t>
            </a:r>
          </a:p>
        </p:txBody>
      </p:sp>
      <p:sp>
        <p:nvSpPr>
          <p:cNvPr id="18" name="">
            <a:extLst xmlns:a="http://schemas.openxmlformats.org/drawingml/2006/main">
              <a:ext uri="{FF2B5EF4-FFF2-40B4-BE49-F238E27FC236}">
                <a16:creationId xmlns:a16="http://schemas.microsoft.com/office/drawing/2014/main" id="{D8B173C4-9D1E-478B-836A-9A4DE15FAF0D}"/>
              </a:ext>
            </a:extLst>
          </p:cNvPr>
          <p:cNvSpPr>
            <a:spLocks xmlns:a="http://schemas.openxmlformats.org/drawingml/2006/main" noGrp="1"/>
          </p:cNvSpPr>
          <p:nvPr/>
        </p:nvSpPr>
        <p:spPr>
          <a:xfrm xmlns:a="http://schemas.openxmlformats.org/drawingml/2006/main">
            <a:off x="647700" y="3733800"/>
            <a:ext cx="10896600"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16B09D6-6E1A-4CF2-A90E-BE7C932A10DA}"/>
              </a:ext>
            </a:extLst>
          </p:cNvPr>
          <p:cNvSpPr>
            <a:spLocks xmlns:a="http://schemas.openxmlformats.org/drawingml/2006/main" noGrp="1"/>
          </p:cNvSpPr>
          <p:nvPr/>
        </p:nvSpPr>
        <p:spPr>
          <a:xfrm xmlns:a="http://schemas.openxmlformats.org/drawingml/2006/main">
            <a:off x="647700" y="396240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defRPr sz="1050" b="1">
                <a:solidFill>
                  <a:srgbClr val="316C9B"/>
                </a:solidFill>
                <a:latin typeface="Avenir Next"/>
                <a:ea typeface="Avenir Next"/>
                <a:cs typeface="Avenir Next"/>
              </a:defRPr>
            </a:pPr>
            <a:r>
              <a:rPr sz="1050" b="1">
                <a:solidFill>
                  <a:srgbClr val="316C9B"/>
                </a:solidFill>
                <a:latin typeface="Avenir Next"/>
                <a:ea typeface="Avenir Next"/>
                <a:cs typeface="Avenir Next"/>
              </a:rPr>
              <a:t>CURRENT APP PATH · SEPARATE FROM SNOWFLAKE</a:t>
            </a:r>
          </a:p>
        </p:txBody>
      </p:sp>
      <p:sp>
        <p:nvSpPr>
          <p:cNvPr id="20" name="">
            <a:extLst xmlns:a="http://schemas.openxmlformats.org/drawingml/2006/main">
              <a:ext uri="{FF2B5EF4-FFF2-40B4-BE49-F238E27FC236}">
                <a16:creationId xmlns:a16="http://schemas.microsoft.com/office/drawing/2014/main" id="{4AB968B4-2997-4182-B4B2-93661EE93662}"/>
              </a:ext>
            </a:extLst>
          </p:cNvPr>
          <p:cNvSpPr>
            <a:spLocks xmlns:a="http://schemas.openxmlformats.org/drawingml/2006/main" noGrp="1"/>
          </p:cNvSpPr>
          <p:nvPr/>
        </p:nvSpPr>
        <p:spPr>
          <a:xfrm xmlns:a="http://schemas.openxmlformats.org/drawingml/2006/main">
            <a:off x="647700" y="4343400"/>
            <a:ext cx="3105150" cy="1066800"/>
          </a:xfrm>
          <a:prstGeom xmlns:a="http://schemas.openxmlformats.org/drawingml/2006/main" prst="roundRect">
            <a:avLst>
              <a:gd name="adj" fmla="val 5357"/>
            </a:avLst>
          </a:prstGeom>
          <a:solidFill xmlns:a="http://schemas.openxmlformats.org/drawingml/2006/main">
            <a:srgbClr val="F5F8F6"/>
          </a:solidFill>
          <a:ln xmlns:a="http://schemas.openxmlformats.org/drawingml/2006/main" w="9525">
            <a:solidFill>
              <a:srgbClr val="D9E2DE"/>
            </a:solidFill>
            <a:prstDash val="solid"/>
          </a:ln>
        </p:spPr>
      </p:sp>
      <p:sp>
        <p:nvSpPr>
          <p:cNvPr id="21" name="">
            <a:extLst xmlns:a="http://schemas.openxmlformats.org/drawingml/2006/main">
              <a:ext uri="{FF2B5EF4-FFF2-40B4-BE49-F238E27FC236}">
                <a16:creationId xmlns:a16="http://schemas.microsoft.com/office/drawing/2014/main" id="{14528D28-2EB1-41DE-9AAF-519807368448}"/>
              </a:ext>
            </a:extLst>
          </p:cNvPr>
          <p:cNvSpPr>
            <a:spLocks xmlns:a="http://schemas.openxmlformats.org/drawingml/2006/main" noGrp="1"/>
          </p:cNvSpPr>
          <p:nvPr/>
        </p:nvSpPr>
        <p:spPr>
          <a:xfrm xmlns:a="http://schemas.openxmlformats.org/drawingml/2006/main">
            <a:off x="819150" y="4495800"/>
            <a:ext cx="276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294"/>
          </a:bodyPr>
          <a:lstStyle xmlns:a="http://schemas.openxmlformats.org/drawingml/2006/main"/>
          <a:p xmlns:a="http://schemas.openxmlformats.org/drawingml/2006/main">
            <a:pPr algn="l">
              <a:defRPr sz="1275" b="1">
                <a:solidFill>
                  <a:srgbClr val="17241F"/>
                </a:solidFill>
                <a:latin typeface="Avenir Next"/>
                <a:ea typeface="Avenir Next"/>
                <a:cs typeface="Avenir Next"/>
              </a:defRPr>
            </a:pPr>
            <a:r>
              <a:rPr sz="1275" b="1">
                <a:solidFill>
                  <a:srgbClr val="17241F"/>
                </a:solidFill>
                <a:latin typeface="Avenir Next"/>
                <a:ea typeface="Avenir Next"/>
                <a:cs typeface="Avenir Next"/>
              </a:rPr>
              <a:t>CSV fixtures</a:t>
            </a:r>
          </a:p>
        </p:txBody>
      </p:sp>
      <p:sp>
        <p:nvSpPr>
          <p:cNvPr id="22" name="">
            <a:extLst xmlns:a="http://schemas.openxmlformats.org/drawingml/2006/main">
              <a:ext uri="{FF2B5EF4-FFF2-40B4-BE49-F238E27FC236}">
                <a16:creationId xmlns:a16="http://schemas.microsoft.com/office/drawing/2014/main" id="{1C98F429-12E5-45E8-91C4-558EF69C0615}"/>
              </a:ext>
            </a:extLst>
          </p:cNvPr>
          <p:cNvSpPr>
            <a:spLocks xmlns:a="http://schemas.openxmlformats.org/drawingml/2006/main" noGrp="1"/>
          </p:cNvSpPr>
          <p:nvPr/>
        </p:nvSpPr>
        <p:spPr>
          <a:xfrm xmlns:a="http://schemas.openxmlformats.org/drawingml/2006/main">
            <a:off x="819150" y="4829175"/>
            <a:ext cx="2724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52615B"/>
                </a:solidFill>
                <a:latin typeface="Avenir Next"/>
                <a:ea typeface="Avenir Next"/>
                <a:cs typeface="Avenir Next"/>
              </a:defRPr>
            </a:pPr>
            <a:r>
              <a:rPr sz="1125" b="0">
                <a:solidFill>
                  <a:srgbClr val="52615B"/>
                </a:solidFill>
                <a:latin typeface="Avenir Next"/>
                <a:ea typeface="Avenir Next"/>
                <a:cs typeface="Avenir Next"/>
              </a:rPr>
              <a:t>Pandas loads the local synthetic files</a:t>
            </a:r>
          </a:p>
        </p:txBody>
      </p:sp>
      <p:sp>
        <p:nvSpPr>
          <p:cNvPr id="23" name="">
            <a:extLst xmlns:a="http://schemas.openxmlformats.org/drawingml/2006/main">
              <a:ext uri="{FF2B5EF4-FFF2-40B4-BE49-F238E27FC236}">
                <a16:creationId xmlns:a16="http://schemas.microsoft.com/office/drawing/2014/main" id="{CE96A671-64FD-4E3F-BB7B-535C9862504D}"/>
              </a:ext>
            </a:extLst>
          </p:cNvPr>
          <p:cNvSpPr>
            <a:spLocks xmlns:a="http://schemas.openxmlformats.org/drawingml/2006/main" noGrp="1"/>
          </p:cNvSpPr>
          <p:nvPr/>
        </p:nvSpPr>
        <p:spPr>
          <a:xfrm xmlns:a="http://schemas.openxmlformats.org/drawingml/2006/main">
            <a:off x="3857625" y="4781550"/>
            <a:ext cx="314325" cy="190500"/>
          </a:xfrm>
          <a:prstGeom xmlns:a="http://schemas.openxmlformats.org/drawingml/2006/main" prst="rightArrow">
            <a:avLst/>
          </a:prstGeom>
          <a:solidFill xmlns:a="http://schemas.openxmlformats.org/drawingml/2006/main">
            <a:srgbClr val="316C9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F4AF5A3-F720-402A-AE87-DEA0A73B74D7}"/>
              </a:ext>
            </a:extLst>
          </p:cNvPr>
          <p:cNvSpPr>
            <a:spLocks xmlns:a="http://schemas.openxmlformats.org/drawingml/2006/main" noGrp="1"/>
          </p:cNvSpPr>
          <p:nvPr/>
        </p:nvSpPr>
        <p:spPr>
          <a:xfrm xmlns:a="http://schemas.openxmlformats.org/drawingml/2006/main">
            <a:off x="4305300" y="4343400"/>
            <a:ext cx="3105150" cy="1066800"/>
          </a:xfrm>
          <a:prstGeom xmlns:a="http://schemas.openxmlformats.org/drawingml/2006/main" prst="roundRect">
            <a:avLst>
              <a:gd name="adj" fmla="val 5357"/>
            </a:avLst>
          </a:prstGeom>
          <a:solidFill xmlns:a="http://schemas.openxmlformats.org/drawingml/2006/main">
            <a:srgbClr val="F5F8F6"/>
          </a:solidFill>
          <a:ln xmlns:a="http://schemas.openxmlformats.org/drawingml/2006/main" w="9525">
            <a:solidFill>
              <a:srgbClr val="D9E2DE"/>
            </a:solidFill>
            <a:prstDash val="solid"/>
          </a:ln>
        </p:spPr>
      </p:sp>
      <p:sp>
        <p:nvSpPr>
          <p:cNvPr id="25" name="">
            <a:extLst xmlns:a="http://schemas.openxmlformats.org/drawingml/2006/main">
              <a:ext uri="{FF2B5EF4-FFF2-40B4-BE49-F238E27FC236}">
                <a16:creationId xmlns:a16="http://schemas.microsoft.com/office/drawing/2014/main" id="{FEFAB164-8CCC-4A57-996F-A8CE870F924C}"/>
              </a:ext>
            </a:extLst>
          </p:cNvPr>
          <p:cNvSpPr>
            <a:spLocks xmlns:a="http://schemas.openxmlformats.org/drawingml/2006/main" noGrp="1"/>
          </p:cNvSpPr>
          <p:nvPr/>
        </p:nvSpPr>
        <p:spPr>
          <a:xfrm xmlns:a="http://schemas.openxmlformats.org/drawingml/2006/main">
            <a:off x="4476750" y="4495800"/>
            <a:ext cx="276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294"/>
          </a:bodyPr>
          <a:lstStyle xmlns:a="http://schemas.openxmlformats.org/drawingml/2006/main"/>
          <a:p xmlns:a="http://schemas.openxmlformats.org/drawingml/2006/main">
            <a:pPr algn="l">
              <a:defRPr sz="1275" b="1">
                <a:solidFill>
                  <a:srgbClr val="17241F"/>
                </a:solidFill>
                <a:latin typeface="Avenir Next"/>
                <a:ea typeface="Avenir Next"/>
                <a:cs typeface="Avenir Next"/>
              </a:defRPr>
            </a:pPr>
            <a:r>
              <a:rPr sz="1275" b="1">
                <a:solidFill>
                  <a:srgbClr val="17241F"/>
                </a:solidFill>
                <a:latin typeface="Avenir Next"/>
                <a:ea typeface="Avenir Next"/>
                <a:cs typeface="Avenir Next"/>
              </a:rPr>
              <a:t>Streamlit decision UI</a:t>
            </a:r>
          </a:p>
        </p:txBody>
      </p:sp>
      <p:sp>
        <p:nvSpPr>
          <p:cNvPr id="26" name="">
            <a:extLst xmlns:a="http://schemas.openxmlformats.org/drawingml/2006/main">
              <a:ext uri="{FF2B5EF4-FFF2-40B4-BE49-F238E27FC236}">
                <a16:creationId xmlns:a16="http://schemas.microsoft.com/office/drawing/2014/main" id="{0CD06741-E45F-4819-8B17-8E2B57972BD4}"/>
              </a:ext>
            </a:extLst>
          </p:cNvPr>
          <p:cNvSpPr>
            <a:spLocks xmlns:a="http://schemas.openxmlformats.org/drawingml/2006/main" noGrp="1"/>
          </p:cNvSpPr>
          <p:nvPr/>
        </p:nvSpPr>
        <p:spPr>
          <a:xfrm xmlns:a="http://schemas.openxmlformats.org/drawingml/2006/main">
            <a:off x="4476750" y="4829175"/>
            <a:ext cx="2724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52615B"/>
                </a:solidFill>
                <a:latin typeface="Avenir Next"/>
                <a:ea typeface="Avenir Next"/>
                <a:cs typeface="Avenir Next"/>
              </a:defRPr>
            </a:pPr>
            <a:r>
              <a:rPr sz="1125" b="0">
                <a:solidFill>
                  <a:srgbClr val="52615B"/>
                </a:solidFill>
                <a:latin typeface="Avenir Next"/>
                <a:ea typeface="Avenir Next"/>
                <a:cs typeface="Avenir Next"/>
              </a:rPr>
              <a:t>Rule score, evidence, owner, playbook</a:t>
            </a:r>
          </a:p>
        </p:txBody>
      </p:sp>
      <p:sp>
        <p:nvSpPr>
          <p:cNvPr id="27" name="">
            <a:extLst xmlns:a="http://schemas.openxmlformats.org/drawingml/2006/main">
              <a:ext uri="{FF2B5EF4-FFF2-40B4-BE49-F238E27FC236}">
                <a16:creationId xmlns:a16="http://schemas.microsoft.com/office/drawing/2014/main" id="{8E76B12D-8A6F-443E-A953-2FD1258A189F}"/>
              </a:ext>
            </a:extLst>
          </p:cNvPr>
          <p:cNvSpPr>
            <a:spLocks xmlns:a="http://schemas.openxmlformats.org/drawingml/2006/main" noGrp="1"/>
          </p:cNvSpPr>
          <p:nvPr/>
        </p:nvSpPr>
        <p:spPr>
          <a:xfrm xmlns:a="http://schemas.openxmlformats.org/drawingml/2006/main">
            <a:off x="7515225" y="4781550"/>
            <a:ext cx="314325" cy="190500"/>
          </a:xfrm>
          <a:prstGeom xmlns:a="http://schemas.openxmlformats.org/drawingml/2006/main" prst="rightArrow">
            <a:avLst/>
          </a:prstGeom>
          <a:solidFill xmlns:a="http://schemas.openxmlformats.org/drawingml/2006/main">
            <a:srgbClr val="316C9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5386E82-1AD2-459A-8CD9-57F2624291E3}"/>
              </a:ext>
            </a:extLst>
          </p:cNvPr>
          <p:cNvSpPr>
            <a:spLocks xmlns:a="http://schemas.openxmlformats.org/drawingml/2006/main" noGrp="1"/>
          </p:cNvSpPr>
          <p:nvPr/>
        </p:nvSpPr>
        <p:spPr>
          <a:xfrm xmlns:a="http://schemas.openxmlformats.org/drawingml/2006/main">
            <a:off x="7962900" y="4343400"/>
            <a:ext cx="3105150" cy="1066800"/>
          </a:xfrm>
          <a:prstGeom xmlns:a="http://schemas.openxmlformats.org/drawingml/2006/main" prst="roundRect">
            <a:avLst>
              <a:gd name="adj" fmla="val 5357"/>
            </a:avLst>
          </a:prstGeom>
          <a:solidFill xmlns:a="http://schemas.openxmlformats.org/drawingml/2006/main">
            <a:srgbClr val="F5F8F6"/>
          </a:solidFill>
          <a:ln xmlns:a="http://schemas.openxmlformats.org/drawingml/2006/main" w="9525">
            <a:solidFill>
              <a:srgbClr val="D9E2DE"/>
            </a:solidFill>
            <a:prstDash val="solid"/>
          </a:ln>
        </p:spPr>
      </p:sp>
      <p:sp>
        <p:nvSpPr>
          <p:cNvPr id="29" name="">
            <a:extLst xmlns:a="http://schemas.openxmlformats.org/drawingml/2006/main">
              <a:ext uri="{FF2B5EF4-FFF2-40B4-BE49-F238E27FC236}">
                <a16:creationId xmlns:a16="http://schemas.microsoft.com/office/drawing/2014/main" id="{93F575F1-5A42-41CF-8B86-8D2576923326}"/>
              </a:ext>
            </a:extLst>
          </p:cNvPr>
          <p:cNvSpPr>
            <a:spLocks xmlns:a="http://schemas.openxmlformats.org/drawingml/2006/main" noGrp="1"/>
          </p:cNvSpPr>
          <p:nvPr/>
        </p:nvSpPr>
        <p:spPr>
          <a:xfrm xmlns:a="http://schemas.openxmlformats.org/drawingml/2006/main">
            <a:off x="8134350" y="4495800"/>
            <a:ext cx="276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294"/>
          </a:bodyPr>
          <a:lstStyle xmlns:a="http://schemas.openxmlformats.org/drawingml/2006/main"/>
          <a:p xmlns:a="http://schemas.openxmlformats.org/drawingml/2006/main">
            <a:pPr algn="l">
              <a:defRPr sz="1275" b="1">
                <a:solidFill>
                  <a:srgbClr val="17241F"/>
                </a:solidFill>
                <a:latin typeface="Avenir Next"/>
                <a:ea typeface="Avenir Next"/>
                <a:cs typeface="Avenir Next"/>
              </a:defRPr>
            </a:pPr>
            <a:r>
              <a:rPr sz="1275" b="1">
                <a:solidFill>
                  <a:srgbClr val="17241F"/>
                </a:solidFill>
                <a:latin typeface="Avenir Next"/>
                <a:ea typeface="Avenir Next"/>
                <a:cs typeface="Avenir Next"/>
              </a:rPr>
              <a:t>SQLite action ledger</a:t>
            </a:r>
          </a:p>
        </p:txBody>
      </p:sp>
      <p:sp>
        <p:nvSpPr>
          <p:cNvPr id="30" name="">
            <a:extLst xmlns:a="http://schemas.openxmlformats.org/drawingml/2006/main">
              <a:ext uri="{FF2B5EF4-FFF2-40B4-BE49-F238E27FC236}">
                <a16:creationId xmlns:a16="http://schemas.microsoft.com/office/drawing/2014/main" id="{A4C5225E-59D8-4F93-96AD-F1FCAEF3F0C3}"/>
              </a:ext>
            </a:extLst>
          </p:cNvPr>
          <p:cNvSpPr>
            <a:spLocks xmlns:a="http://schemas.openxmlformats.org/drawingml/2006/main" noGrp="1"/>
          </p:cNvSpPr>
          <p:nvPr/>
        </p:nvSpPr>
        <p:spPr>
          <a:xfrm xmlns:a="http://schemas.openxmlformats.org/drawingml/2006/main">
            <a:off x="8134350" y="4829175"/>
            <a:ext cx="2724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52615B"/>
                </a:solidFill>
                <a:latin typeface="Avenir Next"/>
                <a:ea typeface="Avenir Next"/>
                <a:cs typeface="Avenir Next"/>
              </a:defRPr>
            </a:pPr>
            <a:r>
              <a:rPr sz="1125" b="0">
                <a:solidFill>
                  <a:srgbClr val="52615B"/>
                </a:solidFill>
                <a:latin typeface="Avenir Next"/>
                <a:ea typeface="Avenir Next"/>
                <a:cs typeface="Avenir Next"/>
              </a:rPr>
              <a:t>Local human decisions and notes</a:t>
            </a:r>
          </a:p>
        </p:txBody>
      </p:sp>
      <p:sp>
        <p:nvSpPr>
          <p:cNvPr id="31" name="">
            <a:extLst xmlns:a="http://schemas.openxmlformats.org/drawingml/2006/main">
              <a:ext uri="{FF2B5EF4-FFF2-40B4-BE49-F238E27FC236}">
                <a16:creationId xmlns:a16="http://schemas.microsoft.com/office/drawing/2014/main" id="{F6C4CF72-9E65-4323-8237-2E2E67090310}"/>
              </a:ext>
            </a:extLst>
          </p:cNvPr>
          <p:cNvSpPr>
            <a:spLocks xmlns:a="http://schemas.openxmlformats.org/drawingml/2006/main" noGrp="1"/>
          </p:cNvSpPr>
          <p:nvPr/>
        </p:nvSpPr>
        <p:spPr>
          <a:xfrm xmlns:a="http://schemas.openxmlformats.org/drawingml/2006/main">
            <a:off x="647700" y="57340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C5533C"/>
                </a:solidFill>
                <a:latin typeface="Avenir Next"/>
                <a:ea typeface="Avenir Next"/>
                <a:cs typeface="Avenir Next"/>
              </a:defRPr>
            </a:pPr>
            <a:r>
              <a:rPr sz="1050" b="1">
                <a:solidFill>
                  <a:srgbClr val="C5533C"/>
                </a:solidFill>
                <a:latin typeface="Avenir Next"/>
                <a:ea typeface="Avenir Next"/>
                <a:cs typeface="Avenir Next"/>
              </a:rPr>
              <a:t>Future: Cortex, governance, and app-to-view connection. CoCo verified: sql-author query + data-quality audit (no duplicate IDs, null keys, or orphans).</a:t>
            </a:r>
          </a:p>
        </p:txBody>
      </p:sp>
    </p:spTree>
    <p:extLst>
      <p:ext uri="{BB962C8B-B14F-4D97-AF65-F5344CB8AC3E}">
        <p14:creationId xmlns:p14="http://schemas.microsoft.com/office/powerpoint/2010/main" val="13504874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5FF610E-F1EC-48C8-A3FB-E94986E8B45C}"/>
              </a:ext>
            </a:extLst>
          </p:cNvPr>
          <p:cNvSpPr>
            <a:spLocks xmlns:a="http://schemas.openxmlformats.org/drawingml/2006/main" noGrp="1"/>
          </p:cNvSpPr>
          <p:nvPr/>
        </p:nvSpPr>
        <p:spPr>
          <a:xfrm xmlns:a="http://schemas.openxmlformats.org/drawingml/2006/main">
            <a:off x="64770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137A63"/>
                </a:solidFill>
                <a:latin typeface="Avenir Next"/>
                <a:ea typeface="Avenir Next"/>
                <a:cs typeface="Avenir Next"/>
              </a:defRPr>
            </a:pPr>
            <a:r>
              <a:rPr sz="975" b="1">
                <a:solidFill>
                  <a:srgbClr val="137A63"/>
                </a:solidFill>
                <a:latin typeface="Avenir Next"/>
                <a:ea typeface="Avenir Next"/>
                <a:cs typeface="Avenir Next"/>
              </a:rPr>
              <a:t>COCO CLI HACKATHON · GCC EDITION</a:t>
            </a:r>
          </a:p>
        </p:txBody>
      </p:sp>
      <p:sp>
        <p:nvSpPr>
          <p:cNvPr id="2" name="">
            <a:extLst xmlns:a="http://schemas.openxmlformats.org/drawingml/2006/main">
              <a:ext uri="{FF2B5EF4-FFF2-40B4-BE49-F238E27FC236}">
                <a16:creationId xmlns:a16="http://schemas.microsoft.com/office/drawing/2014/main" id="{BA3C65B1-9440-4D0A-9674-E3BA0F9CC04D}"/>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41F"/>
                </a:solidFill>
                <a:latin typeface="Avenir Next"/>
                <a:ea typeface="Avenir Next"/>
                <a:cs typeface="Avenir Next"/>
              </a:defRPr>
            </a:pPr>
            <a:r>
              <a:rPr sz="2550" b="1">
                <a:solidFill>
                  <a:srgbClr val="17241F"/>
                </a:solidFill>
                <a:latin typeface="Avenir Next"/>
                <a:ea typeface="Avenir Next"/>
                <a:cs typeface="Avenir Next"/>
              </a:rPr>
              <a:t>Evidence-led service recovery, with a human in control</a:t>
            </a:r>
          </a:p>
        </p:txBody>
      </p:sp>
      <p:sp>
        <p:nvSpPr>
          <p:cNvPr id="3" name="">
            <a:extLst xmlns:a="http://schemas.openxmlformats.org/drawingml/2006/main">
              <a:ext uri="{FF2B5EF4-FFF2-40B4-BE49-F238E27FC236}">
                <a16:creationId xmlns:a16="http://schemas.microsoft.com/office/drawing/2014/main" id="{4802E264-9101-441B-8CF9-E0B988238B3D}"/>
              </a:ext>
            </a:extLst>
          </p:cNvPr>
          <p:cNvSpPr>
            <a:spLocks xmlns:a="http://schemas.openxmlformats.org/drawingml/2006/main" noGrp="1"/>
          </p:cNvSpPr>
          <p:nvPr/>
        </p:nvSpPr>
        <p:spPr>
          <a:xfrm xmlns:a="http://schemas.openxmlformats.org/drawingml/2006/main">
            <a:off x="647700" y="1323975"/>
            <a:ext cx="10896600"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CEF261-6D43-40E9-A57E-D67B9B157643}"/>
              </a:ext>
            </a:extLst>
          </p:cNvPr>
          <p:cNvSpPr>
            <a:spLocks xmlns:a="http://schemas.openxmlformats.org/drawingml/2006/main" noGrp="1"/>
          </p:cNvSpPr>
          <p:nvPr/>
        </p:nvSpPr>
        <p:spPr>
          <a:xfrm xmlns:a="http://schemas.openxmlformats.org/drawingml/2006/main">
            <a:off x="647700" y="6438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2222"/>
          </a:bodyPr>
          <a:lstStyle xmlns:a="http://schemas.openxmlformats.org/drawingml/2006/main"/>
          <a:p xmlns:a="http://schemas.openxmlformats.org/drawingml/2006/main">
            <a:pPr algn="l">
              <a:defRPr sz="900" b="0">
                <a:solidFill>
                  <a:srgbClr val="79847E"/>
                </a:solidFill>
                <a:latin typeface="Avenir Next"/>
                <a:ea typeface="Avenir Next"/>
                <a:cs typeface="Avenir Next"/>
              </a:defRPr>
            </a:pPr>
            <a:r>
              <a:rPr sz="900" b="0">
                <a:solidFill>
                  <a:srgbClr val="79847E"/>
                </a:solidFill>
                <a:latin typeface="Avenir Next"/>
                <a:ea typeface="Avenir Next"/>
                <a:cs typeface="Avenir Next"/>
              </a:rPr>
              <a:t>Synthetic demonstration · Rules-based service triage · No measured business impact</a:t>
            </a:r>
          </a:p>
        </p:txBody>
      </p:sp>
      <p:sp>
        <p:nvSpPr>
          <p:cNvPr id="5" name="">
            <a:extLst xmlns:a="http://schemas.openxmlformats.org/drawingml/2006/main">
              <a:ext uri="{FF2B5EF4-FFF2-40B4-BE49-F238E27FC236}">
                <a16:creationId xmlns:a16="http://schemas.microsoft.com/office/drawing/2014/main" id="{D7DB6A55-FFCC-40B4-B05C-2AB451220C88}"/>
              </a:ext>
            </a:extLst>
          </p:cNvPr>
          <p:cNvSpPr>
            <a:spLocks xmlns:a="http://schemas.openxmlformats.org/drawingml/2006/main" noGrp="1"/>
          </p:cNvSpPr>
          <p:nvPr/>
        </p:nvSpPr>
        <p:spPr>
          <a:xfrm xmlns:a="http://schemas.openxmlformats.org/drawingml/2006/main">
            <a:off x="10858500" y="6419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137A63"/>
                </a:solidFill>
                <a:latin typeface="Avenir Next"/>
                <a:ea typeface="Avenir Next"/>
                <a:cs typeface="Avenir Next"/>
              </a:defRPr>
            </a:pPr>
            <a:r>
              <a:rPr sz="975" b="1">
                <a:solidFill>
                  <a:srgbClr val="137A63"/>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E13E848F-F1D0-4D2E-A72A-1C7FD7CC5755}"/>
              </a:ext>
            </a:extLst>
          </p:cNvPr>
          <p:cNvSpPr>
            <a:spLocks xmlns:a="http://schemas.openxmlformats.org/drawingml/2006/main" noGrp="1"/>
          </p:cNvSpPr>
          <p:nvPr/>
        </p:nvSpPr>
        <p:spPr>
          <a:xfrm xmlns:a="http://schemas.openxmlformats.org/drawingml/2006/main">
            <a:off x="647700" y="1733550"/>
            <a:ext cx="2381250" cy="76200"/>
          </a:xfrm>
          <a:prstGeom xmlns:a="http://schemas.openxmlformats.org/drawingml/2006/main" prst="rect">
            <a:avLst/>
          </a:prstGeom>
          <a:solidFill xmlns:a="http://schemas.openxmlformats.org/drawingml/2006/main">
            <a:srgbClr val="C553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2E66DBF-FFDF-4CA0-A9B5-7CB52442F96B}"/>
              </a:ext>
            </a:extLst>
          </p:cNvPr>
          <p:cNvSpPr>
            <a:spLocks xmlns:a="http://schemas.openxmlformats.org/drawingml/2006/main" noGrp="1"/>
          </p:cNvSpPr>
          <p:nvPr/>
        </p:nvSpPr>
        <p:spPr>
          <a:xfrm xmlns:a="http://schemas.openxmlformats.org/drawingml/2006/main">
            <a:off x="647700" y="197167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C5533C"/>
                </a:solidFill>
                <a:latin typeface="Avenir Next"/>
                <a:ea typeface="Avenir Next"/>
                <a:cs typeface="Avenir Next"/>
              </a:defRPr>
            </a:pPr>
            <a:r>
              <a:rPr sz="1050" b="1">
                <a:solidFill>
                  <a:srgbClr val="C5533C"/>
                </a:solidFill>
                <a:latin typeface="Avenir Next"/>
                <a:ea typeface="Avenir Next"/>
                <a:cs typeface="Avenir Next"/>
              </a:rPr>
              <a:t>01</a:t>
            </a:r>
          </a:p>
        </p:txBody>
      </p:sp>
      <p:sp>
        <p:nvSpPr>
          <p:cNvPr id="8" name="">
            <a:extLst xmlns:a="http://schemas.openxmlformats.org/drawingml/2006/main">
              <a:ext uri="{FF2B5EF4-FFF2-40B4-BE49-F238E27FC236}">
                <a16:creationId xmlns:a16="http://schemas.microsoft.com/office/drawing/2014/main" id="{F85DC3E8-953C-486C-975A-79DFD8027825}"/>
              </a:ext>
            </a:extLst>
          </p:cNvPr>
          <p:cNvSpPr>
            <a:spLocks xmlns:a="http://schemas.openxmlformats.org/drawingml/2006/main" noGrp="1"/>
          </p:cNvSpPr>
          <p:nvPr/>
        </p:nvSpPr>
        <p:spPr>
          <a:xfrm xmlns:a="http://schemas.openxmlformats.org/drawingml/2006/main">
            <a:off x="647700" y="23145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17241F"/>
                </a:solidFill>
                <a:latin typeface="Avenir Next"/>
                <a:ea typeface="Avenir Next"/>
                <a:cs typeface="Avenir Next"/>
              </a:defRPr>
            </a:pPr>
            <a:r>
              <a:rPr sz="1425" b="1">
                <a:solidFill>
                  <a:srgbClr val="17241F"/>
                </a:solidFill>
                <a:latin typeface="Avenir Next"/>
                <a:ea typeface="Avenir Next"/>
                <a:cs typeface="Avenir Next"/>
              </a:rPr>
              <a:t>Signal</a:t>
            </a:r>
          </a:p>
        </p:txBody>
      </p:sp>
      <p:sp>
        <p:nvSpPr>
          <p:cNvPr id="9" name="">
            <a:extLst xmlns:a="http://schemas.openxmlformats.org/drawingml/2006/main">
              <a:ext uri="{FF2B5EF4-FFF2-40B4-BE49-F238E27FC236}">
                <a16:creationId xmlns:a16="http://schemas.microsoft.com/office/drawing/2014/main" id="{49E52659-E08B-467F-BF4F-48B5A711B7F9}"/>
              </a:ext>
            </a:extLst>
          </p:cNvPr>
          <p:cNvSpPr>
            <a:spLocks xmlns:a="http://schemas.openxmlformats.org/drawingml/2006/main" noGrp="1"/>
          </p:cNvSpPr>
          <p:nvPr/>
        </p:nvSpPr>
        <p:spPr>
          <a:xfrm xmlns:a="http://schemas.openxmlformats.org/drawingml/2006/main">
            <a:off x="647700" y="26670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Open claim delay</a:t>
            </a:r>
          </a:p>
        </p:txBody>
      </p:sp>
      <p:sp>
        <p:nvSpPr>
          <p:cNvPr id="10" name="">
            <a:extLst xmlns:a="http://schemas.openxmlformats.org/drawingml/2006/main">
              <a:ext uri="{FF2B5EF4-FFF2-40B4-BE49-F238E27FC236}">
                <a16:creationId xmlns:a16="http://schemas.microsoft.com/office/drawing/2014/main" id="{3B02E016-A495-4647-86A1-6905177150E4}"/>
              </a:ext>
            </a:extLst>
          </p:cNvPr>
          <p:cNvSpPr>
            <a:spLocks xmlns:a="http://schemas.openxmlformats.org/drawingml/2006/main" noGrp="1"/>
          </p:cNvSpPr>
          <p:nvPr/>
        </p:nvSpPr>
        <p:spPr>
          <a:xfrm xmlns:a="http://schemas.openxmlformats.org/drawingml/2006/main">
            <a:off x="3371850" y="1733550"/>
            <a:ext cx="2381250" cy="76200"/>
          </a:xfrm>
          <a:prstGeom xmlns:a="http://schemas.openxmlformats.org/drawingml/2006/main" prst="rect">
            <a:avLst/>
          </a:prstGeom>
          <a:solidFill xmlns:a="http://schemas.openxmlformats.org/drawingml/2006/main">
            <a:srgbClr val="316C9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EB251F5-BDA7-4E22-854C-809A8A7F3551}"/>
              </a:ext>
            </a:extLst>
          </p:cNvPr>
          <p:cNvSpPr>
            <a:spLocks xmlns:a="http://schemas.openxmlformats.org/drawingml/2006/main" noGrp="1"/>
          </p:cNvSpPr>
          <p:nvPr/>
        </p:nvSpPr>
        <p:spPr>
          <a:xfrm xmlns:a="http://schemas.openxmlformats.org/drawingml/2006/main">
            <a:off x="3371850" y="197167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316C9B"/>
                </a:solidFill>
                <a:latin typeface="Avenir Next"/>
                <a:ea typeface="Avenir Next"/>
                <a:cs typeface="Avenir Next"/>
              </a:defRPr>
            </a:pPr>
            <a:r>
              <a:rPr sz="1050" b="1">
                <a:solidFill>
                  <a:srgbClr val="316C9B"/>
                </a:solidFill>
                <a:latin typeface="Avenir Next"/>
                <a:ea typeface="Avenir Next"/>
                <a:cs typeface="Avenir Next"/>
              </a:rPr>
              <a:t>02</a:t>
            </a:r>
          </a:p>
        </p:txBody>
      </p:sp>
      <p:sp>
        <p:nvSpPr>
          <p:cNvPr id="12" name="">
            <a:extLst xmlns:a="http://schemas.openxmlformats.org/drawingml/2006/main">
              <a:ext uri="{FF2B5EF4-FFF2-40B4-BE49-F238E27FC236}">
                <a16:creationId xmlns:a16="http://schemas.microsoft.com/office/drawing/2014/main" id="{DB72E079-9F9B-4E31-93F4-469D2142FFD3}"/>
              </a:ext>
            </a:extLst>
          </p:cNvPr>
          <p:cNvSpPr>
            <a:spLocks xmlns:a="http://schemas.openxmlformats.org/drawingml/2006/main" noGrp="1"/>
          </p:cNvSpPr>
          <p:nvPr/>
        </p:nvSpPr>
        <p:spPr>
          <a:xfrm xmlns:a="http://schemas.openxmlformats.org/drawingml/2006/main">
            <a:off x="3371850" y="23145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17241F"/>
                </a:solidFill>
                <a:latin typeface="Avenir Next"/>
                <a:ea typeface="Avenir Next"/>
                <a:cs typeface="Avenir Next"/>
              </a:defRPr>
            </a:pPr>
            <a:r>
              <a:rPr sz="1425" b="1">
                <a:solidFill>
                  <a:srgbClr val="17241F"/>
                </a:solidFill>
                <a:latin typeface="Avenir Next"/>
                <a:ea typeface="Avenir Next"/>
                <a:cs typeface="Avenir Next"/>
              </a:rPr>
              <a:t>Evidence</a:t>
            </a:r>
          </a:p>
        </p:txBody>
      </p:sp>
      <p:sp>
        <p:nvSpPr>
          <p:cNvPr id="13" name="">
            <a:extLst xmlns:a="http://schemas.openxmlformats.org/drawingml/2006/main">
              <a:ext uri="{FF2B5EF4-FFF2-40B4-BE49-F238E27FC236}">
                <a16:creationId xmlns:a16="http://schemas.microsoft.com/office/drawing/2014/main" id="{32682930-0D11-4FC7-87A7-673FB7AADE94}"/>
              </a:ext>
            </a:extLst>
          </p:cNvPr>
          <p:cNvSpPr>
            <a:spLocks xmlns:a="http://schemas.openxmlformats.org/drawingml/2006/main" noGrp="1"/>
          </p:cNvSpPr>
          <p:nvPr/>
        </p:nvSpPr>
        <p:spPr>
          <a:xfrm xmlns:a="http://schemas.openxmlformats.org/drawingml/2006/main">
            <a:off x="3371850" y="26670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I5001 transcript</a:t>
            </a:r>
          </a:p>
        </p:txBody>
      </p:sp>
      <p:sp>
        <p:nvSpPr>
          <p:cNvPr id="14" name="">
            <a:extLst xmlns:a="http://schemas.openxmlformats.org/drawingml/2006/main">
              <a:ext uri="{FF2B5EF4-FFF2-40B4-BE49-F238E27FC236}">
                <a16:creationId xmlns:a16="http://schemas.microsoft.com/office/drawing/2014/main" id="{E0C7C360-CCD7-417C-929E-A7A7E86949AC}"/>
              </a:ext>
            </a:extLst>
          </p:cNvPr>
          <p:cNvSpPr>
            <a:spLocks xmlns:a="http://schemas.openxmlformats.org/drawingml/2006/main" noGrp="1"/>
          </p:cNvSpPr>
          <p:nvPr/>
        </p:nvSpPr>
        <p:spPr>
          <a:xfrm xmlns:a="http://schemas.openxmlformats.org/drawingml/2006/main">
            <a:off x="6096000" y="1733550"/>
            <a:ext cx="2381250" cy="76200"/>
          </a:xfrm>
          <a:prstGeom xmlns:a="http://schemas.openxmlformats.org/drawingml/2006/main" prst="rect">
            <a:avLst/>
          </a:prstGeom>
          <a:solidFill xmlns:a="http://schemas.openxmlformats.org/drawingml/2006/main">
            <a:srgbClr val="137A6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9F13C94-5285-4A6F-A041-8DDF16426D99}"/>
              </a:ext>
            </a:extLst>
          </p:cNvPr>
          <p:cNvSpPr>
            <a:spLocks xmlns:a="http://schemas.openxmlformats.org/drawingml/2006/main" noGrp="1"/>
          </p:cNvSpPr>
          <p:nvPr/>
        </p:nvSpPr>
        <p:spPr>
          <a:xfrm xmlns:a="http://schemas.openxmlformats.org/drawingml/2006/main">
            <a:off x="6096000" y="197167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37A63"/>
                </a:solidFill>
                <a:latin typeface="Avenir Next"/>
                <a:ea typeface="Avenir Next"/>
                <a:cs typeface="Avenir Next"/>
              </a:defRPr>
            </a:pPr>
            <a:r>
              <a:rPr sz="1050" b="1">
                <a:solidFill>
                  <a:srgbClr val="137A63"/>
                </a:solidFill>
                <a:latin typeface="Avenir Next"/>
                <a:ea typeface="Avenir Next"/>
                <a:cs typeface="Avenir Next"/>
              </a:rPr>
              <a:t>03</a:t>
            </a:r>
          </a:p>
        </p:txBody>
      </p:sp>
      <p:sp>
        <p:nvSpPr>
          <p:cNvPr id="16" name="">
            <a:extLst xmlns:a="http://schemas.openxmlformats.org/drawingml/2006/main">
              <a:ext uri="{FF2B5EF4-FFF2-40B4-BE49-F238E27FC236}">
                <a16:creationId xmlns:a16="http://schemas.microsoft.com/office/drawing/2014/main" id="{5D01C45E-8466-4A3D-8CFC-27C91C8A6895}"/>
              </a:ext>
            </a:extLst>
          </p:cNvPr>
          <p:cNvSpPr>
            <a:spLocks xmlns:a="http://schemas.openxmlformats.org/drawingml/2006/main" noGrp="1"/>
          </p:cNvSpPr>
          <p:nvPr/>
        </p:nvSpPr>
        <p:spPr>
          <a:xfrm xmlns:a="http://schemas.openxmlformats.org/drawingml/2006/main">
            <a:off x="6096000" y="23145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17241F"/>
                </a:solidFill>
                <a:latin typeface="Avenir Next"/>
                <a:ea typeface="Avenir Next"/>
                <a:cs typeface="Avenir Next"/>
              </a:defRPr>
            </a:pPr>
            <a:r>
              <a:rPr sz="1425" b="1">
                <a:solidFill>
                  <a:srgbClr val="17241F"/>
                </a:solidFill>
                <a:latin typeface="Avenir Next"/>
                <a:ea typeface="Avenir Next"/>
                <a:cs typeface="Avenir Next"/>
              </a:rPr>
              <a:t>Decision</a:t>
            </a:r>
          </a:p>
        </p:txBody>
      </p:sp>
      <p:sp>
        <p:nvSpPr>
          <p:cNvPr id="17" name="">
            <a:extLst xmlns:a="http://schemas.openxmlformats.org/drawingml/2006/main">
              <a:ext uri="{FF2B5EF4-FFF2-40B4-BE49-F238E27FC236}">
                <a16:creationId xmlns:a16="http://schemas.microsoft.com/office/drawing/2014/main" id="{12354716-C826-48EC-B6E9-E1BB7265B8CB}"/>
              </a:ext>
            </a:extLst>
          </p:cNvPr>
          <p:cNvSpPr>
            <a:spLocks xmlns:a="http://schemas.openxmlformats.org/drawingml/2006/main" noGrp="1"/>
          </p:cNvSpPr>
          <p:nvPr/>
        </p:nvSpPr>
        <p:spPr>
          <a:xfrm xmlns:a="http://schemas.openxmlformats.org/drawingml/2006/main">
            <a:off x="6096000" y="26670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Fast-track review</a:t>
            </a:r>
          </a:p>
        </p:txBody>
      </p:sp>
      <p:sp>
        <p:nvSpPr>
          <p:cNvPr id="18" name="">
            <a:extLst xmlns:a="http://schemas.openxmlformats.org/drawingml/2006/main">
              <a:ext uri="{FF2B5EF4-FFF2-40B4-BE49-F238E27FC236}">
                <a16:creationId xmlns:a16="http://schemas.microsoft.com/office/drawing/2014/main" id="{814B332B-0B75-4A6D-8B22-D130836E2B4F}"/>
              </a:ext>
            </a:extLst>
          </p:cNvPr>
          <p:cNvSpPr>
            <a:spLocks xmlns:a="http://schemas.openxmlformats.org/drawingml/2006/main" noGrp="1"/>
          </p:cNvSpPr>
          <p:nvPr/>
        </p:nvSpPr>
        <p:spPr>
          <a:xfrm xmlns:a="http://schemas.openxmlformats.org/drawingml/2006/main">
            <a:off x="8820150" y="1733550"/>
            <a:ext cx="2381250" cy="76200"/>
          </a:xfrm>
          <a:prstGeom xmlns:a="http://schemas.openxmlformats.org/drawingml/2006/main" prst="rect">
            <a:avLst/>
          </a:prstGeom>
          <a:solidFill xmlns:a="http://schemas.openxmlformats.org/drawingml/2006/main">
            <a:srgbClr val="758C3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B506B8A-98F3-4FA4-9A89-CB61088D58B3}"/>
              </a:ext>
            </a:extLst>
          </p:cNvPr>
          <p:cNvSpPr>
            <a:spLocks xmlns:a="http://schemas.openxmlformats.org/drawingml/2006/main" noGrp="1"/>
          </p:cNvSpPr>
          <p:nvPr/>
        </p:nvSpPr>
        <p:spPr>
          <a:xfrm xmlns:a="http://schemas.openxmlformats.org/drawingml/2006/main">
            <a:off x="8820150" y="197167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758C3F"/>
                </a:solidFill>
                <a:latin typeface="Avenir Next"/>
                <a:ea typeface="Avenir Next"/>
                <a:cs typeface="Avenir Next"/>
              </a:defRPr>
            </a:pPr>
            <a:r>
              <a:rPr sz="1050" b="1">
                <a:solidFill>
                  <a:srgbClr val="758C3F"/>
                </a:solidFill>
                <a:latin typeface="Avenir Next"/>
                <a:ea typeface="Avenir Next"/>
                <a:cs typeface="Avenir Next"/>
              </a:rPr>
              <a:t>04</a:t>
            </a:r>
          </a:p>
        </p:txBody>
      </p:sp>
      <p:sp>
        <p:nvSpPr>
          <p:cNvPr id="20" name="">
            <a:extLst xmlns:a="http://schemas.openxmlformats.org/drawingml/2006/main">
              <a:ext uri="{FF2B5EF4-FFF2-40B4-BE49-F238E27FC236}">
                <a16:creationId xmlns:a16="http://schemas.microsoft.com/office/drawing/2014/main" id="{D6551203-0C47-498C-A889-8F9E595B31B7}"/>
              </a:ext>
            </a:extLst>
          </p:cNvPr>
          <p:cNvSpPr>
            <a:spLocks xmlns:a="http://schemas.openxmlformats.org/drawingml/2006/main" noGrp="1"/>
          </p:cNvSpPr>
          <p:nvPr/>
        </p:nvSpPr>
        <p:spPr>
          <a:xfrm xmlns:a="http://schemas.openxmlformats.org/drawingml/2006/main">
            <a:off x="8820150" y="23145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17241F"/>
                </a:solidFill>
                <a:latin typeface="Avenir Next"/>
                <a:ea typeface="Avenir Next"/>
                <a:cs typeface="Avenir Next"/>
              </a:defRPr>
            </a:pPr>
            <a:r>
              <a:rPr sz="1425" b="1">
                <a:solidFill>
                  <a:srgbClr val="17241F"/>
                </a:solidFill>
                <a:latin typeface="Avenir Next"/>
                <a:ea typeface="Avenir Next"/>
                <a:cs typeface="Avenir Next"/>
              </a:rPr>
              <a:t>Follow-through</a:t>
            </a:r>
          </a:p>
        </p:txBody>
      </p:sp>
      <p:sp>
        <p:nvSpPr>
          <p:cNvPr id="21" name="">
            <a:extLst xmlns:a="http://schemas.openxmlformats.org/drawingml/2006/main">
              <a:ext uri="{FF2B5EF4-FFF2-40B4-BE49-F238E27FC236}">
                <a16:creationId xmlns:a16="http://schemas.microsoft.com/office/drawing/2014/main" id="{B73A11E7-669E-4FAC-B7B8-CA43C571395E}"/>
              </a:ext>
            </a:extLst>
          </p:cNvPr>
          <p:cNvSpPr>
            <a:spLocks xmlns:a="http://schemas.openxmlformats.org/drawingml/2006/main" noGrp="1"/>
          </p:cNvSpPr>
          <p:nvPr/>
        </p:nvSpPr>
        <p:spPr>
          <a:xfrm xmlns:a="http://schemas.openxmlformats.org/drawingml/2006/main">
            <a:off x="8820150" y="26670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Agent records outcome</a:t>
            </a:r>
          </a:p>
        </p:txBody>
      </p:sp>
      <p:sp>
        <p:nvSpPr>
          <p:cNvPr id="22" name="">
            <a:extLst xmlns:a="http://schemas.openxmlformats.org/drawingml/2006/main">
              <a:ext uri="{FF2B5EF4-FFF2-40B4-BE49-F238E27FC236}">
                <a16:creationId xmlns:a16="http://schemas.microsoft.com/office/drawing/2014/main" id="{7DE1DFB9-FE44-4A07-B6F5-12174F22BCB1}"/>
              </a:ext>
            </a:extLst>
          </p:cNvPr>
          <p:cNvSpPr>
            <a:spLocks xmlns:a="http://schemas.openxmlformats.org/drawingml/2006/main" noGrp="1"/>
          </p:cNvSpPr>
          <p:nvPr/>
        </p:nvSpPr>
        <p:spPr>
          <a:xfrm xmlns:a="http://schemas.openxmlformats.org/drawingml/2006/main">
            <a:off x="647700" y="3476625"/>
            <a:ext cx="6953250" cy="2000250"/>
          </a:xfrm>
          <a:prstGeom xmlns:a="http://schemas.openxmlformats.org/drawingml/2006/main" prst="roundRect">
            <a:avLst>
              <a:gd name="adj" fmla="val 3333"/>
            </a:avLst>
          </a:prstGeom>
          <a:solidFill xmlns:a="http://schemas.openxmlformats.org/drawingml/2006/main">
            <a:srgbClr val="F5F8F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99F3180-752A-4EBF-9279-468D24F82AEB}"/>
              </a:ext>
            </a:extLst>
          </p:cNvPr>
          <p:cNvSpPr>
            <a:spLocks xmlns:a="http://schemas.openxmlformats.org/drawingml/2006/main" noGrp="1"/>
          </p:cNvSpPr>
          <p:nvPr/>
        </p:nvSpPr>
        <p:spPr>
          <a:xfrm xmlns:a="http://schemas.openxmlformats.org/drawingml/2006/main">
            <a:off x="914400" y="37147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C5533C"/>
                </a:solidFill>
                <a:latin typeface="Avenir Next"/>
                <a:ea typeface="Avenir Next"/>
                <a:cs typeface="Avenir Next"/>
              </a:defRPr>
            </a:pPr>
            <a:r>
              <a:rPr sz="1050" b="1">
                <a:solidFill>
                  <a:srgbClr val="C5533C"/>
                </a:solidFill>
                <a:latin typeface="Avenir Next"/>
                <a:ea typeface="Avenir Next"/>
                <a:cs typeface="Avenir Next"/>
              </a:rPr>
              <a:t>CASE C1001 · OPEN CLAIM DELAY</a:t>
            </a:r>
          </a:p>
        </p:txBody>
      </p:sp>
      <p:sp>
        <p:nvSpPr>
          <p:cNvPr id="24" name="">
            <a:extLst xmlns:a="http://schemas.openxmlformats.org/drawingml/2006/main">
              <a:ext uri="{FF2B5EF4-FFF2-40B4-BE49-F238E27FC236}">
                <a16:creationId xmlns:a16="http://schemas.microsoft.com/office/drawing/2014/main" id="{161F1FB6-24AB-4BDE-BF8A-64DC059BAE39}"/>
              </a:ext>
            </a:extLst>
          </p:cNvPr>
          <p:cNvSpPr>
            <a:spLocks xmlns:a="http://schemas.openxmlformats.org/drawingml/2006/main" noGrp="1"/>
          </p:cNvSpPr>
          <p:nvPr/>
        </p:nvSpPr>
        <p:spPr>
          <a:xfrm xmlns:a="http://schemas.openxmlformats.org/drawingml/2006/main">
            <a:off x="914400" y="4114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7241F"/>
                </a:solidFill>
                <a:latin typeface="Avenir Next"/>
                <a:ea typeface="Avenir Next"/>
                <a:cs typeface="Avenir Next"/>
              </a:defRPr>
            </a:pPr>
            <a:r>
              <a:rPr sz="1650" b="1">
                <a:solidFill>
                  <a:srgbClr val="17241F"/>
                </a:solidFill>
                <a:latin typeface="Avenir Next"/>
                <a:ea typeface="Avenir Next"/>
                <a:cs typeface="Avenir Next"/>
              </a:rPr>
              <a:t>“The hospital claim has been pending for three weeks… support promised a callback twice.”</a:t>
            </a:r>
          </a:p>
        </p:txBody>
      </p:sp>
      <p:sp>
        <p:nvSpPr>
          <p:cNvPr id="25" name="">
            <a:extLst xmlns:a="http://schemas.openxmlformats.org/drawingml/2006/main">
              <a:ext uri="{FF2B5EF4-FFF2-40B4-BE49-F238E27FC236}">
                <a16:creationId xmlns:a16="http://schemas.microsoft.com/office/drawing/2014/main" id="{06774CD6-7899-44A8-B919-D61FEDE0BA7E}"/>
              </a:ext>
            </a:extLst>
          </p:cNvPr>
          <p:cNvSpPr>
            <a:spLocks xmlns:a="http://schemas.openxmlformats.org/drawingml/2006/main" noGrp="1"/>
          </p:cNvSpPr>
          <p:nvPr/>
        </p:nvSpPr>
        <p:spPr>
          <a:xfrm xmlns:a="http://schemas.openxmlformats.org/drawingml/2006/main">
            <a:off x="914400" y="49911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52615B"/>
                </a:solidFill>
                <a:latin typeface="Avenir Next"/>
                <a:ea typeface="Avenir Next"/>
                <a:cs typeface="Avenir Next"/>
              </a:defRPr>
            </a:pPr>
            <a:r>
              <a:rPr sz="1050" b="0">
                <a:solidFill>
                  <a:srgbClr val="52615B"/>
                </a:solidFill>
                <a:latin typeface="Avenir Next"/>
                <a:ea typeface="Avenir Next"/>
                <a:cs typeface="Avenir Next"/>
              </a:rPr>
              <a:t>Source: interaction I5001 · supplied label: Negative · status: Open</a:t>
            </a:r>
          </a:p>
        </p:txBody>
      </p:sp>
      <p:sp>
        <p:nvSpPr>
          <p:cNvPr id="26" name="">
            <a:extLst xmlns:a="http://schemas.openxmlformats.org/drawingml/2006/main">
              <a:ext uri="{FF2B5EF4-FFF2-40B4-BE49-F238E27FC236}">
                <a16:creationId xmlns:a16="http://schemas.microsoft.com/office/drawing/2014/main" id="{F5F631C2-61BA-4611-87B3-5199C4CB1D46}"/>
              </a:ext>
            </a:extLst>
          </p:cNvPr>
          <p:cNvSpPr>
            <a:spLocks xmlns:a="http://schemas.openxmlformats.org/drawingml/2006/main" noGrp="1"/>
          </p:cNvSpPr>
          <p:nvPr/>
        </p:nvSpPr>
        <p:spPr>
          <a:xfrm xmlns:a="http://schemas.openxmlformats.org/drawingml/2006/main">
            <a:off x="7943850" y="3476625"/>
            <a:ext cx="3600450" cy="2000250"/>
          </a:xfrm>
          <a:prstGeom xmlns:a="http://schemas.openxmlformats.org/drawingml/2006/main" prst="roundRect">
            <a:avLst>
              <a:gd name="adj" fmla="val 3333"/>
            </a:avLst>
          </a:prstGeom>
          <a:solidFill xmlns:a="http://schemas.openxmlformats.org/drawingml/2006/main">
            <a:srgbClr val="E7F4E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1B40E27-3A7A-4A95-9605-28E672036169}"/>
              </a:ext>
            </a:extLst>
          </p:cNvPr>
          <p:cNvSpPr>
            <a:spLocks xmlns:a="http://schemas.openxmlformats.org/drawingml/2006/main" noGrp="1"/>
          </p:cNvSpPr>
          <p:nvPr/>
        </p:nvSpPr>
        <p:spPr>
          <a:xfrm xmlns:a="http://schemas.openxmlformats.org/drawingml/2006/main">
            <a:off x="8229600" y="37147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137A63"/>
                </a:solidFill>
                <a:latin typeface="Avenir Next"/>
                <a:ea typeface="Avenir Next"/>
                <a:cs typeface="Avenir Next"/>
              </a:defRPr>
            </a:pPr>
            <a:r>
              <a:rPr sz="975" b="1">
                <a:solidFill>
                  <a:srgbClr val="137A63"/>
                </a:solidFill>
                <a:latin typeface="Avenir Next"/>
                <a:ea typeface="Avenir Next"/>
                <a:cs typeface="Avenir Next"/>
              </a:rPr>
              <a:t>RULE OUTPUT · NOT AN AI CLAIM</a:t>
            </a:r>
          </a:p>
        </p:txBody>
      </p:sp>
      <p:sp>
        <p:nvSpPr>
          <p:cNvPr id="28" name="">
            <a:extLst xmlns:a="http://schemas.openxmlformats.org/drawingml/2006/main">
              <a:ext uri="{FF2B5EF4-FFF2-40B4-BE49-F238E27FC236}">
                <a16:creationId xmlns:a16="http://schemas.microsoft.com/office/drawing/2014/main" id="{19F4BDC7-D2CC-475B-BA2E-880C3C482E6E}"/>
              </a:ext>
            </a:extLst>
          </p:cNvPr>
          <p:cNvSpPr>
            <a:spLocks xmlns:a="http://schemas.openxmlformats.org/drawingml/2006/main" noGrp="1"/>
          </p:cNvSpPr>
          <p:nvPr/>
        </p:nvSpPr>
        <p:spPr>
          <a:xfrm xmlns:a="http://schemas.openxmlformats.org/drawingml/2006/main">
            <a:off x="8229600" y="40957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17241F"/>
                </a:solidFill>
                <a:latin typeface="Avenir Next"/>
                <a:ea typeface="Avenir Next"/>
                <a:cs typeface="Avenir Next"/>
              </a:defRPr>
            </a:pPr>
            <a:r>
              <a:rPr sz="1800" b="1">
                <a:solidFill>
                  <a:srgbClr val="17241F"/>
                </a:solidFill>
                <a:latin typeface="Avenir Next"/>
                <a:ea typeface="Avenir Next"/>
                <a:cs typeface="Avenir Next"/>
              </a:rPr>
              <a:t>Risk score 65 / 100</a:t>
            </a:r>
          </a:p>
        </p:txBody>
      </p:sp>
      <p:sp>
        <p:nvSpPr>
          <p:cNvPr id="29" name="">
            <a:extLst xmlns:a="http://schemas.openxmlformats.org/drawingml/2006/main">
              <a:ext uri="{FF2B5EF4-FFF2-40B4-BE49-F238E27FC236}">
                <a16:creationId xmlns:a16="http://schemas.microsoft.com/office/drawing/2014/main" id="{54E751B9-7FF1-411E-AF0F-B65213E2BA54}"/>
              </a:ext>
            </a:extLst>
          </p:cNvPr>
          <p:cNvSpPr>
            <a:spLocks xmlns:a="http://schemas.openxmlformats.org/drawingml/2006/main" noGrp="1"/>
          </p:cNvSpPr>
          <p:nvPr/>
        </p:nvSpPr>
        <p:spPr>
          <a:xfrm xmlns:a="http://schemas.openxmlformats.org/drawingml/2006/main">
            <a:off x="8229600" y="4552950"/>
            <a:ext cx="304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P1 · same-day action</a:t>
            </a:r>
          </a:p>
          <a:p xmlns:a="http://schemas.openxmlformats.org/drawingml/2006/main">
            <a:pPr algn="l">
              <a:defRPr sz="1200" b="0">
                <a:solidFill>
                  <a:srgbClr val="52615B"/>
                </a:solidFill>
                <a:latin typeface="Avenir Next"/>
                <a:ea typeface="Avenir Next"/>
                <a:cs typeface="Avenir Next"/>
              </a:defRPr>
            </a:pPr>
            <a:r>
              <a:rPr sz="1200" b="0">
                <a:solidFill>
                  <a:srgbClr val="52615B"/>
                </a:solidFill>
                <a:latin typeface="Avenir Next"/>
                <a:ea typeface="Avenir Next"/>
                <a:cs typeface="Avenir Next"/>
              </a:rPr>
              <a:t>Claims operations lead</a:t>
            </a:r>
          </a:p>
        </p:txBody>
      </p:sp>
      <p:sp>
        <p:nvSpPr>
          <p:cNvPr id="30" name="">
            <a:extLst xmlns:a="http://schemas.openxmlformats.org/drawingml/2006/main">
              <a:ext uri="{FF2B5EF4-FFF2-40B4-BE49-F238E27FC236}">
                <a16:creationId xmlns:a16="http://schemas.microsoft.com/office/drawing/2014/main" id="{A73F81CE-862C-4496-8DB1-BA587B97A478}"/>
              </a:ext>
            </a:extLst>
          </p:cNvPr>
          <p:cNvSpPr>
            <a:spLocks xmlns:a="http://schemas.openxmlformats.org/drawingml/2006/main" noGrp="1"/>
          </p:cNvSpPr>
          <p:nvPr/>
        </p:nvSpPr>
        <p:spPr>
          <a:xfrm xmlns:a="http://schemas.openxmlformats.org/drawingml/2006/main">
            <a:off x="647700" y="5753100"/>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79847E"/>
                </a:solidFill>
                <a:latin typeface="Avenir Next"/>
                <a:ea typeface="Avenir Next"/>
                <a:cs typeface="Avenir Next"/>
              </a:defRPr>
            </a:pPr>
            <a:r>
              <a:rPr sz="1125" b="0">
                <a:solidFill>
                  <a:srgbClr val="79847E"/>
                </a:solidFill>
                <a:latin typeface="Avenir Next"/>
                <a:ea typeface="Avenir Next"/>
                <a:cs typeface="Avenir Next"/>
              </a:rPr>
              <a:t>The score is a transparent service-risk heuristic, not a calibrated churn probability. No message is sent automatically.</a:t>
            </a:r>
          </a:p>
        </p:txBody>
      </p:sp>
    </p:spTree>
    <p:extLst>
      <p:ext uri="{BB962C8B-B14F-4D97-AF65-F5344CB8AC3E}">
        <p14:creationId xmlns:p14="http://schemas.microsoft.com/office/powerpoint/2010/main" val="8519696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63664F5-B935-4CC2-9C29-567324BD2E7D}"/>
              </a:ext>
            </a:extLst>
          </p:cNvPr>
          <p:cNvSpPr>
            <a:spLocks xmlns:a="http://schemas.openxmlformats.org/drawingml/2006/main" noGrp="1"/>
          </p:cNvSpPr>
          <p:nvPr/>
        </p:nvSpPr>
        <p:spPr>
          <a:xfrm xmlns:a="http://schemas.openxmlformats.org/drawingml/2006/main">
            <a:off x="64770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137A63"/>
                </a:solidFill>
                <a:latin typeface="Avenir Next"/>
                <a:ea typeface="Avenir Next"/>
                <a:cs typeface="Avenir Next"/>
              </a:defRPr>
            </a:pPr>
            <a:r>
              <a:rPr sz="975" b="1">
                <a:solidFill>
                  <a:srgbClr val="137A63"/>
                </a:solidFill>
                <a:latin typeface="Avenir Next"/>
                <a:ea typeface="Avenir Next"/>
                <a:cs typeface="Avenir Next"/>
              </a:rPr>
              <a:t>COCO CLI HACKATHON · GCC EDITION</a:t>
            </a:r>
          </a:p>
        </p:txBody>
      </p:sp>
      <p:sp>
        <p:nvSpPr>
          <p:cNvPr id="2" name="">
            <a:extLst xmlns:a="http://schemas.openxmlformats.org/drawingml/2006/main">
              <a:ext uri="{FF2B5EF4-FFF2-40B4-BE49-F238E27FC236}">
                <a16:creationId xmlns:a16="http://schemas.microsoft.com/office/drawing/2014/main" id="{22783AAA-71A8-40ED-8058-06F7B5BEC545}"/>
              </a:ext>
            </a:extLst>
          </p:cNvPr>
          <p:cNvSpPr>
            <a:spLocks xmlns:a="http://schemas.openxmlformats.org/drawingml/2006/main" noGrp="1"/>
          </p:cNvSpPr>
          <p:nvPr/>
        </p:nvSpPr>
        <p:spPr>
          <a:xfrm xmlns:a="http://schemas.openxmlformats.org/drawingml/2006/main">
            <a:off x="64770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41F"/>
                </a:solidFill>
                <a:latin typeface="Avenir Next"/>
                <a:ea typeface="Avenir Next"/>
                <a:cs typeface="Avenir Next"/>
              </a:defRPr>
            </a:pPr>
            <a:r>
              <a:rPr sz="2550" b="1">
                <a:solidFill>
                  <a:srgbClr val="17241F"/>
                </a:solidFill>
                <a:latin typeface="Avenir Next"/>
                <a:ea typeface="Avenir Next"/>
                <a:cs typeface="Avenir Next"/>
              </a:rPr>
              <a:t>Impact: a measurable hypothesis, not a claimed result</a:t>
            </a:r>
          </a:p>
        </p:txBody>
      </p:sp>
      <p:sp>
        <p:nvSpPr>
          <p:cNvPr id="3" name="">
            <a:extLst xmlns:a="http://schemas.openxmlformats.org/drawingml/2006/main">
              <a:ext uri="{FF2B5EF4-FFF2-40B4-BE49-F238E27FC236}">
                <a16:creationId xmlns:a16="http://schemas.microsoft.com/office/drawing/2014/main" id="{09EE18E0-BEA9-4CB0-9E11-E0195F0D1AC2}"/>
              </a:ext>
            </a:extLst>
          </p:cNvPr>
          <p:cNvSpPr>
            <a:spLocks xmlns:a="http://schemas.openxmlformats.org/drawingml/2006/main" noGrp="1"/>
          </p:cNvSpPr>
          <p:nvPr/>
        </p:nvSpPr>
        <p:spPr>
          <a:xfrm xmlns:a="http://schemas.openxmlformats.org/drawingml/2006/main">
            <a:off x="647700" y="1323975"/>
            <a:ext cx="10896600"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1D7941-9C50-479C-A994-4C59DDE4AC58}"/>
              </a:ext>
            </a:extLst>
          </p:cNvPr>
          <p:cNvSpPr>
            <a:spLocks xmlns:a="http://schemas.openxmlformats.org/drawingml/2006/main" noGrp="1"/>
          </p:cNvSpPr>
          <p:nvPr/>
        </p:nvSpPr>
        <p:spPr>
          <a:xfrm xmlns:a="http://schemas.openxmlformats.org/drawingml/2006/main">
            <a:off x="647700" y="6438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2222"/>
          </a:bodyPr>
          <a:lstStyle xmlns:a="http://schemas.openxmlformats.org/drawingml/2006/main"/>
          <a:p xmlns:a="http://schemas.openxmlformats.org/drawingml/2006/main">
            <a:pPr algn="l">
              <a:defRPr sz="900" b="0">
                <a:solidFill>
                  <a:srgbClr val="79847E"/>
                </a:solidFill>
                <a:latin typeface="Avenir Next"/>
                <a:ea typeface="Avenir Next"/>
                <a:cs typeface="Avenir Next"/>
              </a:defRPr>
            </a:pPr>
            <a:r>
              <a:rPr sz="900" b="0">
                <a:solidFill>
                  <a:srgbClr val="79847E"/>
                </a:solidFill>
                <a:latin typeface="Avenir Next"/>
                <a:ea typeface="Avenir Next"/>
                <a:cs typeface="Avenir Next"/>
              </a:rPr>
              <a:t>Synthetic demonstration · Rules-based service triage · No measured business impact</a:t>
            </a:r>
          </a:p>
        </p:txBody>
      </p:sp>
      <p:sp>
        <p:nvSpPr>
          <p:cNvPr id="5" name="">
            <a:extLst xmlns:a="http://schemas.openxmlformats.org/drawingml/2006/main">
              <a:ext uri="{FF2B5EF4-FFF2-40B4-BE49-F238E27FC236}">
                <a16:creationId xmlns:a16="http://schemas.microsoft.com/office/drawing/2014/main" id="{4F4EB2D9-F2C1-4822-90AD-101C0A8AEB78}"/>
              </a:ext>
            </a:extLst>
          </p:cNvPr>
          <p:cNvSpPr>
            <a:spLocks xmlns:a="http://schemas.openxmlformats.org/drawingml/2006/main" noGrp="1"/>
          </p:cNvSpPr>
          <p:nvPr/>
        </p:nvSpPr>
        <p:spPr>
          <a:xfrm xmlns:a="http://schemas.openxmlformats.org/drawingml/2006/main">
            <a:off x="10858500" y="6419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137A63"/>
                </a:solidFill>
                <a:latin typeface="Avenir Next"/>
                <a:ea typeface="Avenir Next"/>
                <a:cs typeface="Avenir Next"/>
              </a:defRPr>
            </a:pPr>
            <a:r>
              <a:rPr sz="975" b="1">
                <a:solidFill>
                  <a:srgbClr val="137A63"/>
                </a:solidFill>
                <a:latin typeface="Avenir Next"/>
                <a:ea typeface="Avenir Next"/>
                <a:cs typeface="Avenir Next"/>
              </a:rPr>
              <a:t>05</a:t>
            </a:r>
          </a:p>
        </p:txBody>
      </p:sp>
      <p:sp>
        <p:nvSpPr>
          <p:cNvPr id="6" name="">
            <a:extLst xmlns:a="http://schemas.openxmlformats.org/drawingml/2006/main">
              <a:ext uri="{FF2B5EF4-FFF2-40B4-BE49-F238E27FC236}">
                <a16:creationId xmlns:a16="http://schemas.microsoft.com/office/drawing/2014/main" id="{0C3C008B-CC77-400B-AEF5-653089734982}"/>
              </a:ext>
            </a:extLst>
          </p:cNvPr>
          <p:cNvSpPr>
            <a:spLocks xmlns:a="http://schemas.openxmlformats.org/drawingml/2006/main" noGrp="1"/>
          </p:cNvSpPr>
          <p:nvPr/>
        </p:nvSpPr>
        <p:spPr>
          <a:xfrm xmlns:a="http://schemas.openxmlformats.org/drawingml/2006/main">
            <a:off x="647700" y="1543050"/>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137A63"/>
                </a:solidFill>
                <a:latin typeface="Avenir Next"/>
                <a:ea typeface="Avenir Next"/>
                <a:cs typeface="Avenir Next"/>
              </a:defRPr>
            </a:pPr>
            <a:r>
              <a:rPr sz="1050" b="1">
                <a:solidFill>
                  <a:srgbClr val="137A63"/>
                </a:solidFill>
                <a:latin typeface="Avenir Next"/>
                <a:ea typeface="Avenir Next"/>
                <a:cs typeface="Avenir Next"/>
              </a:rPr>
              <a:t>WHAT THE DEMO CAN SHOW TODAY</a:t>
            </a:r>
          </a:p>
        </p:txBody>
      </p:sp>
      <p:sp>
        <p:nvSpPr>
          <p:cNvPr id="7" name="">
            <a:extLst xmlns:a="http://schemas.openxmlformats.org/drawingml/2006/main">
              <a:ext uri="{FF2B5EF4-FFF2-40B4-BE49-F238E27FC236}">
                <a16:creationId xmlns:a16="http://schemas.microsoft.com/office/drawing/2014/main" id="{CC227E15-67B8-4D7C-B6E3-BCED72C22FAF}"/>
              </a:ext>
            </a:extLst>
          </p:cNvPr>
          <p:cNvSpPr>
            <a:spLocks xmlns:a="http://schemas.openxmlformats.org/drawingml/2006/main" noGrp="1"/>
          </p:cNvSpPr>
          <p:nvPr/>
        </p:nvSpPr>
        <p:spPr>
          <a:xfrm xmlns:a="http://schemas.openxmlformats.org/drawingml/2006/main">
            <a:off x="685800" y="2000250"/>
            <a:ext cx="104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765"/>
          </a:bodyPr>
          <a:lstStyle xmlns:a="http://schemas.openxmlformats.org/drawingml/2006/main"/>
          <a:p xmlns:a="http://schemas.openxmlformats.org/drawingml/2006/main">
            <a:pPr algn="l">
              <a:defRPr sz="2550" b="1">
                <a:solidFill>
                  <a:srgbClr val="137A63"/>
                </a:solidFill>
                <a:latin typeface="Avenir Next"/>
                <a:ea typeface="Avenir Next"/>
                <a:cs typeface="Avenir Next"/>
              </a:defRPr>
            </a:pPr>
            <a:r>
              <a:rPr sz="2550" b="1">
                <a:solidFill>
                  <a:srgbClr val="137A63"/>
                </a:solidFill>
                <a:latin typeface="Avenir Next"/>
                <a:ea typeface="Avenir Next"/>
                <a:cs typeface="Avenir Next"/>
              </a:rPr>
              <a:t>10</a:t>
            </a:r>
          </a:p>
        </p:txBody>
      </p:sp>
      <p:sp>
        <p:nvSpPr>
          <p:cNvPr id="8" name="">
            <a:extLst xmlns:a="http://schemas.openxmlformats.org/drawingml/2006/main">
              <a:ext uri="{FF2B5EF4-FFF2-40B4-BE49-F238E27FC236}">
                <a16:creationId xmlns:a16="http://schemas.microsoft.com/office/drawing/2014/main" id="{936CDF99-2AD1-4B1F-A1FE-E1D112B3FFC9}"/>
              </a:ext>
            </a:extLst>
          </p:cNvPr>
          <p:cNvSpPr>
            <a:spLocks xmlns:a="http://schemas.openxmlformats.org/drawingml/2006/main" noGrp="1"/>
          </p:cNvSpPr>
          <p:nvPr/>
        </p:nvSpPr>
        <p:spPr>
          <a:xfrm xmlns:a="http://schemas.openxmlformats.org/drawingml/2006/main">
            <a:off x="1866900" y="2047875"/>
            <a:ext cx="3638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17241F"/>
                </a:solidFill>
                <a:latin typeface="Avenir Next"/>
                <a:ea typeface="Avenir Next"/>
                <a:cs typeface="Avenir Next"/>
              </a:defRPr>
            </a:pPr>
            <a:r>
              <a:rPr sz="1275" b="0">
                <a:solidFill>
                  <a:srgbClr val="17241F"/>
                </a:solidFill>
                <a:latin typeface="Avenir Next"/>
                <a:ea typeface="Avenir Next"/>
                <a:cs typeface="Avenir Next"/>
              </a:rPr>
              <a:t>synthetic customers in the unified view</a:t>
            </a:r>
          </a:p>
        </p:txBody>
      </p:sp>
      <p:sp>
        <p:nvSpPr>
          <p:cNvPr id="9" name="">
            <a:extLst xmlns:a="http://schemas.openxmlformats.org/drawingml/2006/main">
              <a:ext uri="{FF2B5EF4-FFF2-40B4-BE49-F238E27FC236}">
                <a16:creationId xmlns:a16="http://schemas.microsoft.com/office/drawing/2014/main" id="{62E31EA6-AF94-4D30-8185-51C62ED24A4E}"/>
              </a:ext>
            </a:extLst>
          </p:cNvPr>
          <p:cNvSpPr>
            <a:spLocks xmlns:a="http://schemas.openxmlformats.org/drawingml/2006/main" noGrp="1"/>
          </p:cNvSpPr>
          <p:nvPr/>
        </p:nvSpPr>
        <p:spPr>
          <a:xfrm xmlns:a="http://schemas.openxmlformats.org/drawingml/2006/main">
            <a:off x="1866900" y="2552700"/>
            <a:ext cx="3638550"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425E59D-4F83-4C20-B5FF-0D7726E36D2E}"/>
              </a:ext>
            </a:extLst>
          </p:cNvPr>
          <p:cNvSpPr>
            <a:spLocks xmlns:a="http://schemas.openxmlformats.org/drawingml/2006/main" noGrp="1"/>
          </p:cNvSpPr>
          <p:nvPr/>
        </p:nvSpPr>
        <p:spPr>
          <a:xfrm xmlns:a="http://schemas.openxmlformats.org/drawingml/2006/main">
            <a:off x="685800" y="2800350"/>
            <a:ext cx="104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765"/>
          </a:bodyPr>
          <a:lstStyle xmlns:a="http://schemas.openxmlformats.org/drawingml/2006/main"/>
          <a:p xmlns:a="http://schemas.openxmlformats.org/drawingml/2006/main">
            <a:pPr algn="l">
              <a:defRPr sz="2550" b="1">
                <a:solidFill>
                  <a:srgbClr val="C5533C"/>
                </a:solidFill>
                <a:latin typeface="Avenir Next"/>
                <a:ea typeface="Avenir Next"/>
                <a:cs typeface="Avenir Next"/>
              </a:defRPr>
            </a:pPr>
            <a:r>
              <a:rPr sz="2550" b="1">
                <a:solidFill>
                  <a:srgbClr val="C5533C"/>
                </a:solidFill>
                <a:latin typeface="Avenir Next"/>
                <a:ea typeface="Avenir Next"/>
                <a:cs typeface="Avenir Next"/>
              </a:rPr>
              <a:t>5</a:t>
            </a:r>
          </a:p>
        </p:txBody>
      </p:sp>
      <p:sp>
        <p:nvSpPr>
          <p:cNvPr id="11" name="">
            <a:extLst xmlns:a="http://schemas.openxmlformats.org/drawingml/2006/main">
              <a:ext uri="{FF2B5EF4-FFF2-40B4-BE49-F238E27FC236}">
                <a16:creationId xmlns:a16="http://schemas.microsoft.com/office/drawing/2014/main" id="{CB4C1C06-BD16-4936-87B9-7D13BB606CA6}"/>
              </a:ext>
            </a:extLst>
          </p:cNvPr>
          <p:cNvSpPr>
            <a:spLocks xmlns:a="http://schemas.openxmlformats.org/drawingml/2006/main" noGrp="1"/>
          </p:cNvSpPr>
          <p:nvPr/>
        </p:nvSpPr>
        <p:spPr>
          <a:xfrm xmlns:a="http://schemas.openxmlformats.org/drawingml/2006/main">
            <a:off x="1866900" y="2847975"/>
            <a:ext cx="3638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17241F"/>
                </a:solidFill>
                <a:latin typeface="Avenir Next"/>
                <a:ea typeface="Avenir Next"/>
                <a:cs typeface="Avenir Next"/>
              </a:defRPr>
            </a:pPr>
            <a:r>
              <a:rPr sz="1275" b="0">
                <a:solidFill>
                  <a:srgbClr val="17241F"/>
                </a:solidFill>
                <a:latin typeface="Avenir Next"/>
                <a:ea typeface="Avenir Next"/>
                <a:cs typeface="Avenir Next"/>
              </a:rPr>
              <a:t>open interaction records in the demo queue</a:t>
            </a:r>
          </a:p>
        </p:txBody>
      </p:sp>
      <p:sp>
        <p:nvSpPr>
          <p:cNvPr id="12" name="">
            <a:extLst xmlns:a="http://schemas.openxmlformats.org/drawingml/2006/main">
              <a:ext uri="{FF2B5EF4-FFF2-40B4-BE49-F238E27FC236}">
                <a16:creationId xmlns:a16="http://schemas.microsoft.com/office/drawing/2014/main" id="{333DF908-2ECB-4977-95B3-E1A9346E28CD}"/>
              </a:ext>
            </a:extLst>
          </p:cNvPr>
          <p:cNvSpPr>
            <a:spLocks xmlns:a="http://schemas.openxmlformats.org/drawingml/2006/main" noGrp="1"/>
          </p:cNvSpPr>
          <p:nvPr/>
        </p:nvSpPr>
        <p:spPr>
          <a:xfrm xmlns:a="http://schemas.openxmlformats.org/drawingml/2006/main">
            <a:off x="1866900" y="3352800"/>
            <a:ext cx="3638550"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C38C6FB-86C5-452A-AB1A-F86F4B62DA7B}"/>
              </a:ext>
            </a:extLst>
          </p:cNvPr>
          <p:cNvSpPr>
            <a:spLocks xmlns:a="http://schemas.openxmlformats.org/drawingml/2006/main" noGrp="1"/>
          </p:cNvSpPr>
          <p:nvPr/>
        </p:nvSpPr>
        <p:spPr>
          <a:xfrm xmlns:a="http://schemas.openxmlformats.org/drawingml/2006/main">
            <a:off x="685800" y="3600450"/>
            <a:ext cx="104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765"/>
          </a:bodyPr>
          <a:lstStyle xmlns:a="http://schemas.openxmlformats.org/drawingml/2006/main"/>
          <a:p xmlns:a="http://schemas.openxmlformats.org/drawingml/2006/main">
            <a:pPr algn="l">
              <a:defRPr sz="2550" b="1">
                <a:solidFill>
                  <a:srgbClr val="316C9B"/>
                </a:solidFill>
                <a:latin typeface="Avenir Next"/>
                <a:ea typeface="Avenir Next"/>
                <a:cs typeface="Avenir Next"/>
              </a:defRPr>
            </a:pPr>
            <a:r>
              <a:rPr sz="2550" b="1">
                <a:solidFill>
                  <a:srgbClr val="316C9B"/>
                </a:solidFill>
                <a:latin typeface="Avenir Next"/>
                <a:ea typeface="Avenir Next"/>
                <a:cs typeface="Avenir Next"/>
              </a:rPr>
              <a:t>10</a:t>
            </a:r>
          </a:p>
        </p:txBody>
      </p:sp>
      <p:sp>
        <p:nvSpPr>
          <p:cNvPr id="14" name="">
            <a:extLst xmlns:a="http://schemas.openxmlformats.org/drawingml/2006/main">
              <a:ext uri="{FF2B5EF4-FFF2-40B4-BE49-F238E27FC236}">
                <a16:creationId xmlns:a16="http://schemas.microsoft.com/office/drawing/2014/main" id="{8CE88292-DF92-42CD-83AA-D6E21483B0FD}"/>
              </a:ext>
            </a:extLst>
          </p:cNvPr>
          <p:cNvSpPr>
            <a:spLocks xmlns:a="http://schemas.openxmlformats.org/drawingml/2006/main" noGrp="1"/>
          </p:cNvSpPr>
          <p:nvPr/>
        </p:nvSpPr>
        <p:spPr>
          <a:xfrm xmlns:a="http://schemas.openxmlformats.org/drawingml/2006/main">
            <a:off x="1866900" y="3648075"/>
            <a:ext cx="3638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17241F"/>
                </a:solidFill>
                <a:latin typeface="Avenir Next"/>
                <a:ea typeface="Avenir Next"/>
                <a:cs typeface="Avenir Next"/>
              </a:defRPr>
            </a:pPr>
            <a:r>
              <a:rPr sz="1275" b="0">
                <a:solidFill>
                  <a:srgbClr val="17241F"/>
                </a:solidFill>
                <a:latin typeface="Avenir Next"/>
                <a:ea typeface="Avenir Next"/>
                <a:cs typeface="Avenir Next"/>
              </a:rPr>
              <a:t>automated regression tests passing</a:t>
            </a:r>
          </a:p>
        </p:txBody>
      </p:sp>
      <p:sp>
        <p:nvSpPr>
          <p:cNvPr id="15" name="">
            <a:extLst xmlns:a="http://schemas.openxmlformats.org/drawingml/2006/main">
              <a:ext uri="{FF2B5EF4-FFF2-40B4-BE49-F238E27FC236}">
                <a16:creationId xmlns:a16="http://schemas.microsoft.com/office/drawing/2014/main" id="{DC362293-6E08-4011-A7D2-BCB2644DBE6A}"/>
              </a:ext>
            </a:extLst>
          </p:cNvPr>
          <p:cNvSpPr>
            <a:spLocks xmlns:a="http://schemas.openxmlformats.org/drawingml/2006/main" noGrp="1"/>
          </p:cNvSpPr>
          <p:nvPr/>
        </p:nvSpPr>
        <p:spPr>
          <a:xfrm xmlns:a="http://schemas.openxmlformats.org/drawingml/2006/main">
            <a:off x="6115050" y="1619250"/>
            <a:ext cx="5410200" cy="3638550"/>
          </a:xfrm>
          <a:prstGeom xmlns:a="http://schemas.openxmlformats.org/drawingml/2006/main" prst="roundRect">
            <a:avLst>
              <a:gd name="adj" fmla="val 1832"/>
            </a:avLst>
          </a:prstGeom>
          <a:solidFill xmlns:a="http://schemas.openxmlformats.org/drawingml/2006/main">
            <a:srgbClr val="F5F8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360C3CF-1735-4FF1-8C39-062C01CDFE9A}"/>
              </a:ext>
            </a:extLst>
          </p:cNvPr>
          <p:cNvSpPr>
            <a:spLocks xmlns:a="http://schemas.openxmlformats.org/drawingml/2006/main" noGrp="1"/>
          </p:cNvSpPr>
          <p:nvPr/>
        </p:nvSpPr>
        <p:spPr>
          <a:xfrm xmlns:a="http://schemas.openxmlformats.org/drawingml/2006/main">
            <a:off x="6438900" y="18954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defRPr sz="1050" b="1">
                <a:solidFill>
                  <a:srgbClr val="316C9B"/>
                </a:solidFill>
                <a:latin typeface="Avenir Next"/>
                <a:ea typeface="Avenir Next"/>
                <a:cs typeface="Avenir Next"/>
              </a:defRPr>
            </a:pPr>
            <a:r>
              <a:rPr sz="1050" b="1">
                <a:solidFill>
                  <a:srgbClr val="316C9B"/>
                </a:solidFill>
                <a:latin typeface="Avenir Next"/>
                <a:ea typeface="Avenir Next"/>
                <a:cs typeface="Avenir Next"/>
              </a:rPr>
              <a:t>NEXT VALIDATION STUDY</a:t>
            </a:r>
          </a:p>
        </p:txBody>
      </p:sp>
      <p:sp>
        <p:nvSpPr>
          <p:cNvPr id="17" name="">
            <a:extLst xmlns:a="http://schemas.openxmlformats.org/drawingml/2006/main">
              <a:ext uri="{FF2B5EF4-FFF2-40B4-BE49-F238E27FC236}">
                <a16:creationId xmlns:a16="http://schemas.microsoft.com/office/drawing/2014/main" id="{DF76F559-6AF5-44C7-AE35-9B5310A63EBC}"/>
              </a:ext>
            </a:extLst>
          </p:cNvPr>
          <p:cNvSpPr>
            <a:spLocks xmlns:a="http://schemas.openxmlformats.org/drawingml/2006/main" noGrp="1"/>
          </p:cNvSpPr>
          <p:nvPr/>
        </p:nvSpPr>
        <p:spPr>
          <a:xfrm xmlns:a="http://schemas.openxmlformats.org/drawingml/2006/main">
            <a:off x="6457950" y="2381250"/>
            <a:ext cx="323850" cy="323850"/>
          </a:xfrm>
          <a:prstGeom xmlns:a="http://schemas.openxmlformats.org/drawingml/2006/main" prst="ellipse">
            <a:avLst/>
          </a:prstGeom>
          <a:solidFill xmlns:a="http://schemas.openxmlformats.org/drawingml/2006/main">
            <a:srgbClr val="316C9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7DF622D-D259-4FF2-8C4C-52E4B85ADCC8}"/>
              </a:ext>
            </a:extLst>
          </p:cNvPr>
          <p:cNvSpPr>
            <a:spLocks xmlns:a="http://schemas.openxmlformats.org/drawingml/2006/main" noGrp="1"/>
          </p:cNvSpPr>
          <p:nvPr/>
        </p:nvSpPr>
        <p:spPr>
          <a:xfrm xmlns:a="http://schemas.openxmlformats.org/drawingml/2006/main">
            <a:off x="6457950" y="2400300"/>
            <a:ext cx="32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667"/>
          </a:bodyPr>
          <a:lstStyle xmlns:a="http://schemas.openxmlformats.org/drawingml/2006/main"/>
          <a:p xmlns:a="http://schemas.openxmlformats.org/drawingml/2006/main">
            <a:pPr algn="ctr">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1</a:t>
            </a:r>
          </a:p>
        </p:txBody>
      </p:sp>
      <p:sp>
        <p:nvSpPr>
          <p:cNvPr id="19" name="">
            <a:extLst xmlns:a="http://schemas.openxmlformats.org/drawingml/2006/main">
              <a:ext uri="{FF2B5EF4-FFF2-40B4-BE49-F238E27FC236}">
                <a16:creationId xmlns:a16="http://schemas.microsoft.com/office/drawing/2014/main" id="{E3A6ECBA-B561-4078-9BBD-CD86DF8B2EBA}"/>
              </a:ext>
            </a:extLst>
          </p:cNvPr>
          <p:cNvSpPr>
            <a:spLocks xmlns:a="http://schemas.openxmlformats.org/drawingml/2006/main" noGrp="1"/>
          </p:cNvSpPr>
          <p:nvPr/>
        </p:nvSpPr>
        <p:spPr>
          <a:xfrm xmlns:a="http://schemas.openxmlformats.org/drawingml/2006/main">
            <a:off x="6972300" y="23812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1">
                <a:solidFill>
                  <a:srgbClr val="17241F"/>
                </a:solidFill>
                <a:latin typeface="Avenir Next"/>
                <a:ea typeface="Avenir Next"/>
                <a:cs typeface="Avenir Next"/>
              </a:defRPr>
            </a:pPr>
            <a:r>
              <a:rPr sz="1350" b="1">
                <a:solidFill>
                  <a:srgbClr val="17241F"/>
                </a:solidFill>
                <a:latin typeface="Avenir Next"/>
                <a:ea typeface="Avenir Next"/>
                <a:cs typeface="Avenir Next"/>
              </a:rPr>
              <a:t>Compare</a:t>
            </a:r>
          </a:p>
        </p:txBody>
      </p:sp>
      <p:sp>
        <p:nvSpPr>
          <p:cNvPr id="20" name="">
            <a:extLst xmlns:a="http://schemas.openxmlformats.org/drawingml/2006/main">
              <a:ext uri="{FF2B5EF4-FFF2-40B4-BE49-F238E27FC236}">
                <a16:creationId xmlns:a16="http://schemas.microsoft.com/office/drawing/2014/main" id="{9CBD308D-645B-4671-9F1B-9D47D8FF08CE}"/>
              </a:ext>
            </a:extLst>
          </p:cNvPr>
          <p:cNvSpPr>
            <a:spLocks xmlns:a="http://schemas.openxmlformats.org/drawingml/2006/main" noGrp="1"/>
          </p:cNvSpPr>
          <p:nvPr/>
        </p:nvSpPr>
        <p:spPr>
          <a:xfrm xmlns:a="http://schemas.openxmlformats.org/drawingml/2006/main">
            <a:off x="6972300" y="2676525"/>
            <a:ext cx="4171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52615B"/>
                </a:solidFill>
                <a:latin typeface="Avenir Next"/>
                <a:ea typeface="Avenir Next"/>
                <a:cs typeface="Avenir Next"/>
              </a:defRPr>
            </a:pPr>
            <a:r>
              <a:rPr sz="1125" b="0">
                <a:solidFill>
                  <a:srgbClr val="52615B"/>
                </a:solidFill>
                <a:latin typeface="Avenir Next"/>
                <a:ea typeface="Avenir Next"/>
                <a:cs typeface="Avenir Next"/>
              </a:rPr>
              <a:t>Manual record review vs. evidence-led triage</a:t>
            </a:r>
          </a:p>
        </p:txBody>
      </p:sp>
      <p:sp>
        <p:nvSpPr>
          <p:cNvPr id="21" name="">
            <a:extLst xmlns:a="http://schemas.openxmlformats.org/drawingml/2006/main">
              <a:ext uri="{FF2B5EF4-FFF2-40B4-BE49-F238E27FC236}">
                <a16:creationId xmlns:a16="http://schemas.microsoft.com/office/drawing/2014/main" id="{D3522B52-2941-427F-85CE-FE6DF685FE8B}"/>
              </a:ext>
            </a:extLst>
          </p:cNvPr>
          <p:cNvSpPr>
            <a:spLocks xmlns:a="http://schemas.openxmlformats.org/drawingml/2006/main" noGrp="1"/>
          </p:cNvSpPr>
          <p:nvPr/>
        </p:nvSpPr>
        <p:spPr>
          <a:xfrm xmlns:a="http://schemas.openxmlformats.org/drawingml/2006/main">
            <a:off x="6457950" y="3200400"/>
            <a:ext cx="323850" cy="323850"/>
          </a:xfrm>
          <a:prstGeom xmlns:a="http://schemas.openxmlformats.org/drawingml/2006/main" prst="ellipse">
            <a:avLst/>
          </a:prstGeom>
          <a:solidFill xmlns:a="http://schemas.openxmlformats.org/drawingml/2006/main">
            <a:srgbClr val="137A6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7962E79-DB63-4EAF-9342-8004A9D32ED1}"/>
              </a:ext>
            </a:extLst>
          </p:cNvPr>
          <p:cNvSpPr>
            <a:spLocks xmlns:a="http://schemas.openxmlformats.org/drawingml/2006/main" noGrp="1"/>
          </p:cNvSpPr>
          <p:nvPr/>
        </p:nvSpPr>
        <p:spPr>
          <a:xfrm xmlns:a="http://schemas.openxmlformats.org/drawingml/2006/main">
            <a:off x="6457950" y="3219450"/>
            <a:ext cx="32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667"/>
          </a:bodyPr>
          <a:lstStyle xmlns:a="http://schemas.openxmlformats.org/drawingml/2006/main"/>
          <a:p xmlns:a="http://schemas.openxmlformats.org/drawingml/2006/main">
            <a:pPr algn="ctr">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2</a:t>
            </a:r>
          </a:p>
        </p:txBody>
      </p:sp>
      <p:sp>
        <p:nvSpPr>
          <p:cNvPr id="23" name="">
            <a:extLst xmlns:a="http://schemas.openxmlformats.org/drawingml/2006/main">
              <a:ext uri="{FF2B5EF4-FFF2-40B4-BE49-F238E27FC236}">
                <a16:creationId xmlns:a16="http://schemas.microsoft.com/office/drawing/2014/main" id="{9F5F52C7-F874-4A8B-B3CD-AB591FB264FB}"/>
              </a:ext>
            </a:extLst>
          </p:cNvPr>
          <p:cNvSpPr>
            <a:spLocks xmlns:a="http://schemas.openxmlformats.org/drawingml/2006/main" noGrp="1"/>
          </p:cNvSpPr>
          <p:nvPr/>
        </p:nvSpPr>
        <p:spPr>
          <a:xfrm xmlns:a="http://schemas.openxmlformats.org/drawingml/2006/main">
            <a:off x="6972300" y="3200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1">
                <a:solidFill>
                  <a:srgbClr val="17241F"/>
                </a:solidFill>
                <a:latin typeface="Avenir Next"/>
                <a:ea typeface="Avenir Next"/>
                <a:cs typeface="Avenir Next"/>
              </a:defRPr>
            </a:pPr>
            <a:r>
              <a:rPr sz="1350" b="1">
                <a:solidFill>
                  <a:srgbClr val="17241F"/>
                </a:solidFill>
                <a:latin typeface="Avenir Next"/>
                <a:ea typeface="Avenir Next"/>
                <a:cs typeface="Avenir Next"/>
              </a:rPr>
              <a:t>Measure</a:t>
            </a:r>
          </a:p>
        </p:txBody>
      </p:sp>
      <p:sp>
        <p:nvSpPr>
          <p:cNvPr id="24" name="">
            <a:extLst xmlns:a="http://schemas.openxmlformats.org/drawingml/2006/main">
              <a:ext uri="{FF2B5EF4-FFF2-40B4-BE49-F238E27FC236}">
                <a16:creationId xmlns:a16="http://schemas.microsoft.com/office/drawing/2014/main" id="{197B0AEF-C21E-4100-8833-6D0E83520033}"/>
              </a:ext>
            </a:extLst>
          </p:cNvPr>
          <p:cNvSpPr>
            <a:spLocks xmlns:a="http://schemas.openxmlformats.org/drawingml/2006/main" noGrp="1"/>
          </p:cNvSpPr>
          <p:nvPr/>
        </p:nvSpPr>
        <p:spPr>
          <a:xfrm xmlns:a="http://schemas.openxmlformats.org/drawingml/2006/main">
            <a:off x="6972300" y="3495675"/>
            <a:ext cx="4171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52615B"/>
                </a:solidFill>
                <a:latin typeface="Avenir Next"/>
                <a:ea typeface="Avenir Next"/>
                <a:cs typeface="Avenir Next"/>
              </a:defRPr>
            </a:pPr>
            <a:r>
              <a:rPr sz="1125" b="0">
                <a:solidFill>
                  <a:srgbClr val="52615B"/>
                </a:solidFill>
                <a:latin typeface="Avenir Next"/>
                <a:ea typeface="Avenir Next"/>
                <a:cs typeface="Avenir Next"/>
              </a:rPr>
              <a:t>Median triage time and evidence correctness</a:t>
            </a:r>
          </a:p>
        </p:txBody>
      </p:sp>
      <p:sp>
        <p:nvSpPr>
          <p:cNvPr id="25" name="">
            <a:extLst xmlns:a="http://schemas.openxmlformats.org/drawingml/2006/main">
              <a:ext uri="{FF2B5EF4-FFF2-40B4-BE49-F238E27FC236}">
                <a16:creationId xmlns:a16="http://schemas.microsoft.com/office/drawing/2014/main" id="{B059359F-C6AC-4388-850E-9981F0B8E7A6}"/>
              </a:ext>
            </a:extLst>
          </p:cNvPr>
          <p:cNvSpPr>
            <a:spLocks xmlns:a="http://schemas.openxmlformats.org/drawingml/2006/main" noGrp="1"/>
          </p:cNvSpPr>
          <p:nvPr/>
        </p:nvSpPr>
        <p:spPr>
          <a:xfrm xmlns:a="http://schemas.openxmlformats.org/drawingml/2006/main">
            <a:off x="6457950" y="4019550"/>
            <a:ext cx="323850" cy="323850"/>
          </a:xfrm>
          <a:prstGeom xmlns:a="http://schemas.openxmlformats.org/drawingml/2006/main" prst="ellipse">
            <a:avLst/>
          </a:prstGeom>
          <a:solidFill xmlns:a="http://schemas.openxmlformats.org/drawingml/2006/main">
            <a:srgbClr val="C5533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B3CABC2-7555-4317-8F3F-C0C276A26E0E}"/>
              </a:ext>
            </a:extLst>
          </p:cNvPr>
          <p:cNvSpPr>
            <a:spLocks xmlns:a="http://schemas.openxmlformats.org/drawingml/2006/main" noGrp="1"/>
          </p:cNvSpPr>
          <p:nvPr/>
        </p:nvSpPr>
        <p:spPr>
          <a:xfrm xmlns:a="http://schemas.openxmlformats.org/drawingml/2006/main">
            <a:off x="6457950" y="4038600"/>
            <a:ext cx="32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667"/>
          </a:bodyPr>
          <a:lstStyle xmlns:a="http://schemas.openxmlformats.org/drawingml/2006/main"/>
          <a:p xmlns:a="http://schemas.openxmlformats.org/drawingml/2006/main">
            <a:pPr algn="ctr">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3</a:t>
            </a:r>
          </a:p>
        </p:txBody>
      </p:sp>
      <p:sp>
        <p:nvSpPr>
          <p:cNvPr id="27" name="">
            <a:extLst xmlns:a="http://schemas.openxmlformats.org/drawingml/2006/main">
              <a:ext uri="{FF2B5EF4-FFF2-40B4-BE49-F238E27FC236}">
                <a16:creationId xmlns:a16="http://schemas.microsoft.com/office/drawing/2014/main" id="{60A06ED9-36D0-47DC-B30A-DF170379FF05}"/>
              </a:ext>
            </a:extLst>
          </p:cNvPr>
          <p:cNvSpPr>
            <a:spLocks xmlns:a="http://schemas.openxmlformats.org/drawingml/2006/main" noGrp="1"/>
          </p:cNvSpPr>
          <p:nvPr/>
        </p:nvSpPr>
        <p:spPr>
          <a:xfrm xmlns:a="http://schemas.openxmlformats.org/drawingml/2006/main">
            <a:off x="6972300" y="40195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1">
                <a:solidFill>
                  <a:srgbClr val="17241F"/>
                </a:solidFill>
                <a:latin typeface="Avenir Next"/>
                <a:ea typeface="Avenir Next"/>
                <a:cs typeface="Avenir Next"/>
              </a:defRPr>
            </a:pPr>
            <a:r>
              <a:rPr sz="1350" b="1">
                <a:solidFill>
                  <a:srgbClr val="17241F"/>
                </a:solidFill>
                <a:latin typeface="Avenir Next"/>
                <a:ea typeface="Avenir Next"/>
                <a:cs typeface="Avenir Next"/>
              </a:rPr>
              <a:t>Pilot</a:t>
            </a:r>
          </a:p>
        </p:txBody>
      </p:sp>
      <p:sp>
        <p:nvSpPr>
          <p:cNvPr id="28" name="">
            <a:extLst xmlns:a="http://schemas.openxmlformats.org/drawingml/2006/main">
              <a:ext uri="{FF2B5EF4-FFF2-40B4-BE49-F238E27FC236}">
                <a16:creationId xmlns:a16="http://schemas.microsoft.com/office/drawing/2014/main" id="{E86EE7BD-98C3-4885-BF36-48B404EF8218}"/>
              </a:ext>
            </a:extLst>
          </p:cNvPr>
          <p:cNvSpPr>
            <a:spLocks xmlns:a="http://schemas.openxmlformats.org/drawingml/2006/main" noGrp="1"/>
          </p:cNvSpPr>
          <p:nvPr/>
        </p:nvSpPr>
        <p:spPr>
          <a:xfrm xmlns:a="http://schemas.openxmlformats.org/drawingml/2006/main">
            <a:off x="6972300" y="4314825"/>
            <a:ext cx="4171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52615B"/>
                </a:solidFill>
                <a:latin typeface="Avenir Next"/>
                <a:ea typeface="Avenir Next"/>
                <a:cs typeface="Avenir Next"/>
              </a:defRPr>
            </a:pPr>
            <a:r>
              <a:rPr sz="1125" b="0">
                <a:solidFill>
                  <a:srgbClr val="52615B"/>
                </a:solidFill>
                <a:latin typeface="Avenir Next"/>
                <a:ea typeface="Avenir Next"/>
                <a:cs typeface="Avenir Next"/>
              </a:rPr>
              <a:t>Case aging, SLA resolution, and agent adoption</a:t>
            </a:r>
          </a:p>
        </p:txBody>
      </p:sp>
      <p:sp>
        <p:nvSpPr>
          <p:cNvPr id="29" name="">
            <a:extLst xmlns:a="http://schemas.openxmlformats.org/drawingml/2006/main">
              <a:ext uri="{FF2B5EF4-FFF2-40B4-BE49-F238E27FC236}">
                <a16:creationId xmlns:a16="http://schemas.microsoft.com/office/drawing/2014/main" id="{31A0E611-4218-4C02-B41A-1DB9A8E79222}"/>
              </a:ext>
            </a:extLst>
          </p:cNvPr>
          <p:cNvSpPr>
            <a:spLocks xmlns:a="http://schemas.openxmlformats.org/drawingml/2006/main" noGrp="1"/>
          </p:cNvSpPr>
          <p:nvPr/>
        </p:nvSpPr>
        <p:spPr>
          <a:xfrm xmlns:a="http://schemas.openxmlformats.org/drawingml/2006/main">
            <a:off x="647700" y="5581650"/>
            <a:ext cx="10896600" cy="9525"/>
          </a:xfrm>
          <a:prstGeom xmlns:a="http://schemas.openxmlformats.org/drawingml/2006/main" prst="rect">
            <a:avLst/>
          </a:prstGeom>
          <a:solidFill xmlns:a="http://schemas.openxmlformats.org/drawingml/2006/main">
            <a:srgbClr val="D9E2D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7E290C3-EE0E-4203-89F4-2358CA8F4A1D}"/>
              </a:ext>
            </a:extLst>
          </p:cNvPr>
          <p:cNvSpPr>
            <a:spLocks xmlns:a="http://schemas.openxmlformats.org/drawingml/2006/main" noGrp="1"/>
          </p:cNvSpPr>
          <p:nvPr/>
        </p:nvSpPr>
        <p:spPr>
          <a:xfrm xmlns:a="http://schemas.openxmlformats.org/drawingml/2006/main">
            <a:off x="647700" y="58102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717"/>
          </a:bodyPr>
          <a:lstStyle xmlns:a="http://schemas.openxmlformats.org/drawingml/2006/main"/>
          <a:p xmlns:a="http://schemas.openxmlformats.org/drawingml/2006/main">
            <a:pPr algn="l">
              <a:defRPr sz="1125" b="1">
                <a:solidFill>
                  <a:srgbClr val="17241F"/>
                </a:solidFill>
                <a:latin typeface="Avenir Next"/>
                <a:ea typeface="Avenir Next"/>
                <a:cs typeface="Avenir Next"/>
              </a:defRPr>
            </a:pPr>
            <a:r>
              <a:rPr sz="1125" b="1">
                <a:solidFill>
                  <a:srgbClr val="17241F"/>
                </a:solidFill>
                <a:latin typeface="Avenir Next"/>
                <a:ea typeface="Avenir Next"/>
                <a:cs typeface="Avenir Next"/>
              </a:rPr>
              <a:t>Scale path: incremental Snowflake ingestion → governed semantic layer → bounded Cortex enrichment → connected Streamlit app → outcome evaluation.</a:t>
            </a:r>
          </a:p>
        </p:txBody>
      </p:sp>
    </p:spTree>
    <p:extLst>
      <p:ext uri="{BB962C8B-B14F-4D97-AF65-F5344CB8AC3E}">
        <p14:creationId xmlns:p14="http://schemas.microsoft.com/office/powerpoint/2010/main" val="780302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2026-10-06T16:42:08.6570000Z</dcterms:created>
  <dcterms:modified xsi:type="dcterms:W3CDTF">2026-10-06T16:42:08.6570000Z</dcterms:modified>
</coreProperties>
</file>